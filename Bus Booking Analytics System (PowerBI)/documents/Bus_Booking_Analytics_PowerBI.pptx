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BUSINESS INTELLIGENCE PRESENTATION</a:t>
            </a:r>
          </a:p>
          <a:p>
            <a:pPr>
              <a:spcAft>
                <a:spcPts val="1000"/>
              </a:spcAft>
              <a:defRPr sz="4400" b="1">
                <a:solidFill>
                  <a:srgbClr val="F1F5F9"/>
                </a:solidFill>
                <a:latin typeface="Segoe UI"/>
              </a:defRPr>
            </a:pPr>
            <a:r>
              <a:t>Bus Booking Analytics System</a:t>
            </a:r>
          </a:p>
          <a:p>
            <a:pPr>
              <a:spcAft>
                <a:spcPts val="4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End-to-End MySQL Relational Storage &amp; Power BI Visualization Deck</a:t>
            </a:r>
          </a:p>
          <a:p>
            <a:pPr>
              <a:defRPr sz="1200" b="1">
                <a:solidFill>
                  <a:srgbClr val="94A3B8"/>
                </a:solidFill>
                <a:latin typeface="Segoe UI"/>
              </a:defRPr>
            </a:pPr>
            <a:r>
              <a:t>Developed by: Gururaj Shetty  |  Lead Systems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BUS BOOKING ANALYTICS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Executive Overview (Page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293B"/>
                </a:solidFill>
              </a:defRPr>
            </a:pPr>
            <a:r>
              <a:t>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CORE METRICS &amp; KPIs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Total Revenue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$479.85K </a:t>
            </a:r>
          </a:p>
          <a:p>
            <a:pPr>
              <a:spcAft>
                <a:spcPts val="1200"/>
              </a:spcAft>
              <a:defRPr sz="1000">
                <a:solidFill>
                  <a:srgbClr val="22C55E"/>
                </a:solidFill>
              </a:defRPr>
            </a:pPr>
            <a:r>
              <a:t>   Goal: $433.58K (+10.67%)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Total Bookings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533 </a:t>
            </a:r>
          </a:p>
          <a:p>
            <a:pPr>
              <a:spcAft>
                <a:spcPts val="1200"/>
              </a:spcAft>
              <a:defRPr sz="1000">
                <a:solidFill>
                  <a:srgbClr val="EF4444"/>
                </a:solidFill>
              </a:defRPr>
            </a:pPr>
            <a:r>
              <a:t>   Goal: 657 (-18.87%)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Average Fare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$900.27 </a:t>
            </a:r>
          </a:p>
          <a:p>
            <a:pPr>
              <a:spcAft>
                <a:spcPts val="1200"/>
              </a:spcAft>
              <a:defRPr sz="1000">
                <a:solidFill>
                  <a:srgbClr val="22C55E"/>
                </a:solidFill>
              </a:defRPr>
            </a:pPr>
            <a:r>
              <a:t>   Goal: $659.95 (+36.42%)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Customer Retention Rate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77.0% </a:t>
            </a:r>
          </a:p>
          <a:p>
            <a:pPr>
              <a:spcAft>
                <a:spcPts val="1200"/>
              </a:spcAft>
              <a:defRPr sz="1000">
                <a:solidFill>
                  <a:srgbClr val="EF4444"/>
                </a:solidFill>
              </a:defRPr>
            </a:pPr>
            <a:r>
              <a:t>   Goal: 80.0% (-3.93%)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6702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VISUAL ANALYSIS &amp; REPORT INSIGHTS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Revenue &amp; Bookings Trend (Dual Axis Line)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Tracks seasonal demand volume. Peak sales are recorded in May-June due to summer travel windows, dropping into seasonal low factors in late winter.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Revenue by Source Location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Bangalore dominates as the top boarding hub, generating $1.99M in ticket sales, followed closely by Delhi at $1.69M, highlighting primary commuter corridors.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Operational Booking Statuses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Presents final reservation distributions: 8.50K Confirmed rows (representing realized travel yield), 1.28K Pending entries, and 601 Cancelled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BUS BOOKING ANALYTICS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Operations &amp; Booking Status (Page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293B"/>
                </a:solidFill>
              </a:defRPr>
            </a:pPr>
            <a:r>
              <a:t>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OPERATIONAL PERFORMANCE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Average Lead Time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4.81 Days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Average duration between booking date and journey date.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Confirmation Rate</a:t>
            </a:r>
          </a:p>
          <a:p>
            <a:pPr>
              <a:defRPr sz="2000" b="1">
                <a:solidFill>
                  <a:srgbClr val="22C55E"/>
                </a:solidFill>
              </a:defRPr>
            </a:pPr>
            <a:r>
              <a:t>   82.0%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Percent of bookings transitioning to final confirmed status.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Cancellation Rate</a:t>
            </a:r>
          </a:p>
          <a:p>
            <a:pPr>
              <a:defRPr sz="2000" b="1">
                <a:solidFill>
                  <a:srgbClr val="EF4444"/>
                </a:solidFill>
              </a:defRPr>
            </a:pPr>
            <a:r>
              <a:t>   6.0%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Percent of reservations cancelled (operational leakage).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Pending Rate</a:t>
            </a:r>
          </a:p>
          <a:p>
            <a:pPr>
              <a:defRPr sz="2000" b="1">
                <a:solidFill>
                  <a:srgbClr val="94A3B8"/>
                </a:solidFill>
              </a:defRPr>
            </a:pPr>
            <a:r>
              <a:t>   12.0%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Percent of reservations remaining in pending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6702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OPERATIONAL DISPATCH MATRIX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Lead Time Groups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Categorized into Same-Day, 1-3 Days, 4-7 Days, and 8+ Days. The bulk of reservations are booked 1-3 days in advance, allowing scheduling dispatch adjustments.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Travel Demands by Bus Configuration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Non-AC Sleeper coaches register the highest booking frequency (3,143 reservations), followed by AC Sleeper (2,883) and AC Seater (2,476).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Source Corridor Density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Delhi is the largest source hub (2,866 bookings), followed by Bangalore (2,100) and Mumbai (1,893), establishing key heavy-frequency corridors.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BUS BOOKING ANALYTICS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Revenue, Leakage &amp; Fare Yields (Page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293B"/>
                </a:solidFill>
              </a:defRPr>
            </a:pPr>
            <a:r>
              <a:t>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REVENUE SUMMARY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Total Revenue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$8.90M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Total gross ticket sales generated over 18 months.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Average Ticket Fare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$857.29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Average purchase price across all booked seats.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Revenue Leakage</a:t>
            </a:r>
          </a:p>
          <a:p>
            <a:pPr>
              <a:defRPr sz="2000" b="1">
                <a:solidFill>
                  <a:srgbClr val="EF4444"/>
                </a:solidFill>
              </a:defRPr>
            </a:pPr>
            <a:r>
              <a:t>   $519.84K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Revenue lost due to cancelled booking rows.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Net Realized Revenue</a:t>
            </a:r>
          </a:p>
          <a:p>
            <a:pPr>
              <a:defRPr sz="2000" b="1">
                <a:solidFill>
                  <a:srgbClr val="22C55E"/>
                </a:solidFill>
              </a:defRPr>
            </a:pPr>
            <a:r>
              <a:t>   $8.38M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Total net cash receipts (gross sales minus cancellations).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6702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FINANCIAL YIELD INSIGHTS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Revenue by Bus Configuration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Premium AC Sleeper coaches command the highest average ticket yield ($952 per seat), followed by Non-AC Sleepers ($880) and AC Seaters ($718).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Yield Correlation by Distance Class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Confirms pricing model integrity. Longer routes (e.g. &gt;550km like Chennai-Hyderabad) show proportionate revenue scaling, maximizing return per mile.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Monthly Revenue Curve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Demonstrates stable seasonal cash flow peaks in spring and autumn, dropping in summer/winter, helping treasury plan cash flow reserves.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BUS BOOKING ANALYTICS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Customer Profiles &amp; Cohort Retention (Page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293B"/>
                </a:solidFill>
              </a:defRPr>
            </a:pPr>
            <a:r>
              <a:t>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CUSTOMER METRICS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Total Bookings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10K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Total seat reservations recorded.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Unique Customers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294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Distinct customer IDs in active user base.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Avg Spend per Customer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$30.27K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Average cumulative lifetime spend per customer.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Avg Bookings per Customer</a:t>
            </a:r>
          </a:p>
          <a:p>
            <a:pPr>
              <a:defRPr sz="2000" b="1">
                <a:solidFill>
                  <a:srgbClr val="06B6D4"/>
                </a:solidFill>
              </a:defRPr>
            </a:pPr>
            <a:r>
              <a:t>   35.31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Average travel frequency per customer.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6702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LOYALTY &amp; RETENTION COHORTS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Customer Retention Rate (Gauge)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Currently stands at 75.0% against an 80.0% goal. This realistic gap helps segment commuter pools vs. single-trip seasonal travelers.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Demographic Segments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Young professionals and middle-aged commuters (Age 25-45 and 45+) form 90%+ of total bookings. Gender demand splits evenly, showing balanced market access.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Monthly Passenger Spikes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Identifies seasonal customer footprints, with distinct booking expansions peaking in spring, which is vital for targeting digital ad campaign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BUS BOOKING ANALYTICS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Asset Utilization &amp; Capacity (Page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293B"/>
                </a:solidFill>
              </a:defRPr>
            </a:pPr>
            <a:r>
              <a:t>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CAPACITY &amp; UTILIZATION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Total Fleet Size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11 Buses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Total number of physical active coaches.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Total Seating Capacity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470 Seats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Gross capacity on dimension table (Corrected!).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Average Bus Capacity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   42.73 Seats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Average seats available per dispatched vehicle.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• Average Occupancy Rate</a:t>
            </a:r>
          </a:p>
          <a:p>
            <a:pPr>
              <a:defRPr sz="2000" b="1">
                <a:solidFill>
                  <a:srgbClr val="06B6D4"/>
                </a:solidFill>
              </a:defRPr>
            </a:pPr>
            <a:r>
              <a:t>   51.0%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   Average load factor across overall departures.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6702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FLEET OPTIMIZATION NOTES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Seating Capacity vs. Occupied Seats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Highlights asset scaling. AC Seater buses offer higher gross capacity (50 seats) but AC Sleepers (40 capacity) operate with higher pricing margins.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Occupancy Load Factors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Currently stands at 51% average load factor. Fleet operators can optimize route schedules to consolidate passenger counts on low-occupancy weekday runs.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Individual Asset Yield Table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Enables mechanical maintenance monitoring against exact ticket revenues, determining which specific license plates are underperforming.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BUS BOOKING ANALYTICS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Route Demand &amp; Reports (Page 6 &amp;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293B"/>
                </a:solidFill>
              </a:defRPr>
            </a:pPr>
            <a:r>
              <a:t>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ROUTE METRICS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Active Route Footprint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11 distinct city-to-city routes connecting major economic hubs across India.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High-Demand Corridors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Mumbai - Ahmedabad, Bangalore - Hyderabad, and Chennai - Hyderabad represent the highest booking demand and revenue yields.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Distance Class Efficiency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Longer corridors show strong revenue generation, validating pricing margins per travel kilometer.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645920"/>
            <a:ext cx="6245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REPORTING &amp; AUDIT EXPORTS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Unified Search &amp; Filtering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Page 7 features a search bar allowing users to filter by specific Booking IDs, Customer names, and dates for transaction auditing.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Alternating Row Visuals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Tables are formatted with clean alternating rows and high-contrast text for easy scannability.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▪ CSV Data Export</a:t>
            </a:r>
          </a:p>
          <a:p>
            <a:pPr>
              <a:spcAft>
                <a:spcPts val="1500"/>
              </a:spcAft>
              <a:defRPr sz="1100">
                <a:solidFill>
                  <a:srgbClr val="94A3B8"/>
                </a:solidFill>
              </a:defRPr>
            </a:pPr>
            <a:r>
              <a:t>Fully configured for raw data extraction, allowing business analysts to export clean CSV sheets directly from the dashboard visual in one click.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