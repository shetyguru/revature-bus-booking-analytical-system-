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8882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jpe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468880"/>
            <a:ext cx="1005840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 panose="020B0502040204020203"/>
              </a:defRPr>
            </a:pPr>
            <a:r>
              <a:t>POWER BI ANALYTICS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1089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54A75"/>
                </a:solidFill>
                <a:latin typeface="Segoe UI" panose="020B0502040204020203"/>
              </a:defRPr>
            </a:pPr>
            <a:r>
              <a:t>Bus Fleet Dispatch &amp; Yield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34155"/>
                </a:solidFill>
                <a:latin typeface="Segoe UI" panose="020B0502040204020203"/>
              </a:defRPr>
            </a:pPr>
            <a:r>
              <a:t>End-to-End Relational MySQL Preprocessing &amp; Dashboard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1206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748B"/>
                </a:solidFill>
                <a:latin typeface="Segoe UI" panose="020B0502040204020203"/>
              </a:defRPr>
            </a:pPr>
            <a:r>
              <a:t>Submitted by: Harish, Harini, Gururaj Shetty  |  Revature Data Analytics Phase 2</a:t>
            </a:r>
            <a:br/>
            <a:r>
              <a:t>Phase 2 Final Project  |  Database Normalization &amp; Visualizations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 panose="020B0502040204020203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 panose="020B0502040204020203"/>
              </a:defRPr>
            </a:pPr>
            <a: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 panose="020B0502040204020203"/>
              </a:defRPr>
            </a:pPr>
            <a:r>
              <a:t>2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60152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 panose="020B0502040204020203"/>
              </a:defRPr>
            </a:pPr>
            <a:r>
              <a:t>01   ─   Project Overview &amp; Objectives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 panose="020B0502040204020203"/>
              </a:defRPr>
            </a:pPr>
            <a:r>
              <a:t>02   ─   Tools &amp; Technology Stack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 panose="020B0502040204020203"/>
              </a:defRPr>
            </a:pPr>
            <a:r>
              <a:t>03   ─   Data Preprocessing &amp; Cleaning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 panose="020B0502040204020203"/>
              </a:defRPr>
            </a:pPr>
            <a:r>
              <a:t>04   ─   MySQL Database Design &amp; Normalization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 panose="020B0502040204020203"/>
              </a:defRPr>
            </a:pPr>
            <a:r>
              <a:t>05   ─   Interactive Analytical Dashboards (Power BI)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 panose="020B0502040204020203"/>
              </a:defRPr>
            </a:pPr>
            <a:r>
              <a:t>06   ─   Operations &amp; Booking Insights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 panose="020B0502040204020203"/>
              </a:defRPr>
            </a:pPr>
            <a:r>
              <a:t>07   ─   Key Financial Findings &amp; Recommendations</a:t>
            </a:r>
          </a:p>
        </p:txBody>
      </p:sp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 panose="020B0502040204020203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 panose="020B0502040204020203"/>
              </a:defRPr>
            </a:pPr>
            <a:r>
              <a:t>Project Overview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 panose="020B0502040204020203"/>
              </a:defRPr>
            </a:pPr>
            <a:r>
              <a:t>3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7824" y="2468880"/>
            <a:ext cx="3474720" cy="365760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spcAft>
                <a:spcPts val="1400"/>
              </a:spcAft>
              <a:defRPr sz="1300" b="1">
                <a:solidFill>
                  <a:srgbClr val="EF4444"/>
                </a:solidFill>
                <a:latin typeface="Segoe UI" panose="020B0502040204020203"/>
              </a:defRPr>
            </a:pPr>
            <a:r>
              <a:t>⚡ THE PROBLEM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Inconsistent dates and raw duplication errors skew operational dashboards.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Lack of relational keys prevents automated seat utilization calculations.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Unmonitored cancellation records mask high revenue leakage corridors.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26864" y="2468880"/>
            <a:ext cx="3474720" cy="365760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spcAft>
                <a:spcPts val="1400"/>
              </a:spcAft>
              <a:defRPr sz="1300" b="1">
                <a:solidFill>
                  <a:srgbClr val="22C55E"/>
                </a:solidFill>
                <a:latin typeface="Segoe UI" panose="020B0502040204020203"/>
              </a:defRPr>
            </a:pPr>
            <a:r>
              <a:t>✓ OUR SOLUTION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Clean, normalize, and parse dates from mixed formats using Python pipeline.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Design star-schema relational model in MySQL with proper integrity constraints.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Build a 7-page interactive Power BI reporting dashboard workspace.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75904" y="2468880"/>
            <a:ext cx="3474720" cy="365760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spcAft>
                <a:spcPts val="1400"/>
              </a:spcAft>
              <a:defRPr sz="1300" b="1">
                <a:solidFill>
                  <a:srgbClr val="EAB308"/>
                </a:solidFill>
                <a:latin typeface="Segoe UI" panose="020B0502040204020203"/>
              </a:defRPr>
            </a:pPr>
            <a:r>
              <a:t>🎯 IMPACT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Enabled real-time yield calculations and fleet asset occupancy tracking.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Removed data ingestion discrepancies for stable incremental staging.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Provided dispatcher teams with actionable route loading summaries.</a:t>
            </a:r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 panose="020B0502040204020203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 panose="020B0502040204020203"/>
              </a:defRPr>
            </a:pPr>
            <a:r>
              <a:t>Tools &amp; 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 panose="020B0502040204020203"/>
              </a:defRPr>
            </a:pPr>
            <a:r>
              <a:t>4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" y="2560320"/>
            <a:ext cx="2560320" cy="338328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spcAft>
                <a:spcPts val="1400"/>
              </a:spcAft>
              <a:defRPr sz="1300" b="1">
                <a:solidFill>
                  <a:srgbClr val="06B6D4"/>
                </a:solidFill>
                <a:latin typeface="Segoe UI" panose="020B0502040204020203"/>
              </a:defRPr>
            </a:pPr>
            <a:r>
              <a:t>Python 3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Pandas, NumPy libraries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Core data cleaning engine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Constraint verification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3904" y="2560320"/>
            <a:ext cx="2560320" cy="338328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spcAft>
                <a:spcPts val="1400"/>
              </a:spcAft>
              <a:defRPr sz="1300" b="1">
                <a:solidFill>
                  <a:srgbClr val="06B6D4"/>
                </a:solidFill>
                <a:latin typeface="Segoe UI" panose="020B0502040204020203"/>
              </a:defRPr>
            </a:pPr>
            <a:r>
              <a:t>MySQL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Relational tables structure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Durable staging keys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Performance indexes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8544" y="2560320"/>
            <a:ext cx="2560320" cy="338328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spcAft>
                <a:spcPts val="1400"/>
              </a:spcAft>
              <a:defRPr sz="1300" b="1">
                <a:solidFill>
                  <a:srgbClr val="06B6D4"/>
                </a:solidFill>
                <a:latin typeface="Segoe UI" panose="020B0502040204020203"/>
              </a:defRPr>
            </a:pPr>
            <a:r>
              <a:t>Power BI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Corporate data dashboards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Dynamic slicer panels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Executive summaries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73184" y="2560320"/>
            <a:ext cx="2560320" cy="338328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spcAft>
                <a:spcPts val="1400"/>
              </a:spcAft>
              <a:defRPr sz="1300" b="1">
                <a:solidFill>
                  <a:srgbClr val="06B6D4"/>
                </a:solidFill>
                <a:latin typeface="Segoe UI" panose="020B0502040204020203"/>
              </a:defRPr>
            </a:pPr>
            <a:r>
              <a:t>DAX &amp; PQ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Custom calculated measures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Power Query pipelines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Star-schema modeling</a:t>
            </a:r>
          </a:p>
        </p:txBody>
      </p:sp>
    </p:spTree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 panose="020B0502040204020203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 panose="020B0502040204020203"/>
              </a:defRPr>
            </a:pPr>
            <a:r>
              <a:t>Data Preprocessing &amp; Cleaning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 panose="020B0502040204020203"/>
              </a:defRPr>
            </a:pPr>
            <a:r>
              <a:t>5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6B6D4"/>
                </a:solidFill>
                <a:latin typeface="Segoe UI" panose="020B0502040204020203"/>
              </a:defRPr>
            </a:pPr>
            <a:r>
              <a:t>Automated Data Cleansing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" y="29260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334155"/>
                </a:solidFill>
                <a:latin typeface="Segoe UI" panose="020B0502040204020203"/>
              </a:defRPr>
            </a:pPr>
            <a:r>
              <a:t>◆  Mixed Date parsing parses inconsistent DD/MM/YYYY and MM-DD-YYYY strings.</a:t>
            </a:r>
          </a:p>
          <a:p>
            <a:pPr>
              <a:spcAft>
                <a:spcPts val="1000"/>
              </a:spcAft>
              <a:defRPr sz="1200">
                <a:solidFill>
                  <a:srgbClr val="334155"/>
                </a:solidFill>
                <a:latin typeface="Segoe UI" panose="020B0502040204020203"/>
              </a:defRPr>
            </a:pPr>
            <a:r>
              <a:t>◆  Deduplication enforces PK constraints by removing duplicate Booking_ID rows.</a:t>
            </a:r>
          </a:p>
          <a:p>
            <a:pPr>
              <a:spcAft>
                <a:spcPts val="1000"/>
              </a:spcAft>
              <a:defRPr sz="1200">
                <a:solidFill>
                  <a:srgbClr val="334155"/>
                </a:solidFill>
                <a:latin typeface="Segoe UI" panose="020B0502040204020203"/>
              </a:defRPr>
            </a:pPr>
            <a:r>
              <a:t>◆  Missing gender entries and customer age outliers corrected to baseline medians.</a:t>
            </a:r>
          </a:p>
          <a:p>
            <a:pPr>
              <a:spcAft>
                <a:spcPts val="1000"/>
              </a:spcAft>
              <a:defRPr sz="1200">
                <a:solidFill>
                  <a:srgbClr val="334155"/>
                </a:solidFill>
                <a:latin typeface="Segoe UI" panose="020B0502040204020203"/>
              </a:defRPr>
            </a:pPr>
            <a:r>
              <a:t>◆  Case normalization standardizes inconsistent names and statuses to clean casing.</a:t>
            </a:r>
          </a:p>
          <a:p>
            <a:pPr>
              <a:spcAft>
                <a:spcPts val="1000"/>
              </a:spcAft>
              <a:defRPr sz="1200">
                <a:solidFill>
                  <a:srgbClr val="334155"/>
                </a:solidFill>
                <a:latin typeface="Segoe UI" panose="020B0502040204020203"/>
              </a:defRPr>
            </a:pPr>
            <a:r>
              <a:t>◆  Customer booking cap restricts maximum bookings to under 75 per user.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9944" y="2377440"/>
            <a:ext cx="5212080" cy="356616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spcAft>
                <a:spcPts val="1400"/>
              </a:spcAft>
              <a:defRPr sz="1300" b="1">
                <a:solidFill>
                  <a:srgbClr val="22C55E"/>
                </a:solidFill>
                <a:latin typeface="Segoe UI" panose="020B0502040204020203"/>
              </a:defRPr>
            </a:pPr>
            <a:r>
              <a:t>🎯 PIPELINE OUTPUT METRICS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Raw Input Volume: 11,848 booking records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Clean Output Volume: 10,381 booking records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Database Constraint Enforced: Travel_Date &gt;= Booking_Date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Deduplicated Entries: Removed 601 duplicate rows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Customer Retention Target: Cleansed at 75.0% rate</a:t>
            </a:r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 panose="020B0502040204020203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 panose="020B0502040204020203"/>
              </a:defRPr>
            </a:pPr>
            <a:r>
              <a:t>MySQL Database Design &amp; Normalization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 panose="020B0502040204020203"/>
              </a:defRPr>
            </a:pPr>
            <a:r>
              <a:t>6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6B6D4"/>
                </a:solidFill>
                <a:latin typeface="Segoe UI" panose="020B0502040204020203"/>
              </a:defRPr>
            </a:pPr>
            <a:r>
              <a:t>Relational Database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" y="29260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 panose="020B0502040204020203"/>
              </a:defRPr>
            </a:pPr>
            <a:r>
              <a:t>◆  Structured in clean star-schema relational hierarchy.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 panose="020B0502040204020203"/>
              </a:defRPr>
            </a:pPr>
            <a:r>
              <a:t>◆  Fact Table: Bookings contains foreign key bindings to dimensions.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 panose="020B0502040204020203"/>
              </a:defRPr>
            </a:pPr>
            <a:r>
              <a:t>◆  Dimension Tables: Customers, Buses, and Routes hold core entities.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 panose="020B0502040204020203"/>
              </a:defRPr>
            </a:pPr>
            <a:r>
              <a:t>◆  Strict foreign keys prevent orphan records and maintain database integrity.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 panose="020B0502040204020203"/>
              </a:defRPr>
            </a:pPr>
            <a:r>
              <a:t>◆  Performance indexes configured on key query corridors.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9944" y="2377440"/>
            <a:ext cx="5212080" cy="356616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spcAft>
                <a:spcPts val="1400"/>
              </a:spcAft>
              <a:defRPr sz="1300" b="1">
                <a:solidFill>
                  <a:srgbClr val="06B6D4"/>
                </a:solidFill>
                <a:latin typeface="Segoe UI" panose="020B0502040204020203"/>
              </a:defRPr>
            </a:pPr>
            <a:r>
              <a:t>📂 TABLE SCHEMAS (DDL)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Customers: Customer_ID (PK) | Name | Email | Phone | Gender | Age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Buses: Bus_ID (PK) | Bus_Number | Bus_Type | Capacity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Routes: Route_ID (PK) | Source | Destination | Distance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Bookings: Booking_ID (PK) | Customer_ID (FK) | Bus_ID (FK) | Route_ID (FK)</a:t>
            </a:r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 panose="020B0502040204020203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 panose="020B0502040204020203"/>
              </a:defRPr>
            </a:pPr>
            <a:r>
              <a:t>Power BI Desktop Staging &amp; Modeling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 panose="020B0502040204020203"/>
              </a:defRPr>
            </a:pPr>
            <a:r>
              <a:t>7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06B6D4"/>
                </a:solidFill>
                <a:latin typeface="Segoe UI" panose="020B0502040204020203"/>
              </a:defRPr>
            </a:pPr>
            <a:r>
              <a:t>DESKTOP DESIGN ENVIRONMENT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Development canvas showing staging metrics and calculated KPI indicators.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Visualizations pane (slicers, line plots, pie charts) selected to model fleet occupancy profiles.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Data pane mapping clean relational tables imported directly from staging MySQL database.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Main canvas displaying the Executive Dashboard layout in Power BI Desktop.</a:t>
            </a:r>
          </a:p>
        </p:txBody>
      </p:sp>
      <p:pic>
        <p:nvPicPr>
          <p:cNvPr id="7" name="Picture 6" descr="Screenshot (195)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2286000"/>
            <a:ext cx="5394960" cy="3035808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 panose="020B0502040204020203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 panose="020B0502040204020203"/>
              </a:defRPr>
            </a:pPr>
            <a:r>
              <a:t>Executive Overview Dashboard (Page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 panose="020B0502040204020203"/>
              </a:defRPr>
            </a:pPr>
            <a:r>
              <a:t>8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06B6D4"/>
                </a:solidFill>
                <a:latin typeface="Segoe UI" panose="020B0502040204020203"/>
              </a:defRPr>
            </a:pPr>
            <a:r>
              <a:t>CORE KPIs &amp; GENERAL DEMANDS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Tracks core corporate targets: Total Revenue ($479.85K) and Average Ticket Fare ($900.27) both exceed targets.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Monthly demand curves reveal high volumes peaking in May-June, with seasonal drops in late winter.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Confirmed vs. Cancelled cards identify exact transaction distributions (8.50K Confirmed rows).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Source hub split places Bangalore as the top ticket sales hub, generating $1.99M.</a:t>
            </a:r>
          </a:p>
        </p:txBody>
      </p:sp>
      <p:pic>
        <p:nvPicPr>
          <p:cNvPr id="7" name="Picture 6" descr="Screenshot 2026-07-16 005206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9944" y="2286000"/>
            <a:ext cx="5212080" cy="292608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 panose="020B0502040204020203"/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 panose="020B0502040204020203"/>
              </a:defRPr>
            </a:pPr>
            <a:r>
              <a:t>Operations &amp; Bookings Analysis (Page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 panose="020B0502040204020203"/>
              </a:defRPr>
            </a:pPr>
            <a:r>
              <a:t>9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06B6D4"/>
                </a:solidFill>
                <a:latin typeface="Segoe UI" panose="020B0502040204020203"/>
              </a:defRPr>
            </a:pPr>
            <a:r>
              <a:t>DEMAND &amp; VERIFICATION RATIOS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Monitors average booking lead times (4.81 days) to guide scheduling schedules.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Shows confirmation rates (82.0%) and pending transactions ratios (12.0%).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Booking volume split by bus type: Non-AC Sleeper registers 3,143 reservations, AC Sleeper registers 2,883, and AC Seater 2,476.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Source corridor traffic lists Delhi corridor as the highest boarding corridor.</a:t>
            </a:r>
          </a:p>
        </p:txBody>
      </p:sp>
      <p:pic>
        <p:nvPicPr>
          <p:cNvPr id="7" name="Picture 6" descr="Screenshot 2026-07-16 005249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9944" y="2286000"/>
            <a:ext cx="5212080" cy="292608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 panose="020B0502040204020203"/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 panose="020B0502040204020203"/>
              </a:defRPr>
            </a:pPr>
            <a:r>
              <a:t>Revenue &amp; Yield Optimization (Page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 panose="020B0502040204020203"/>
              </a:defRPr>
            </a:pPr>
            <a:r>
              <a:t>10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06B6D4"/>
                </a:solidFill>
                <a:latin typeface="Segoe UI" panose="020B0502040204020203"/>
              </a:defRPr>
            </a:pPr>
            <a:r>
              <a:t>FINANCIAL YIELD CORRIDORS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Audits gross vs net revenue channels ($8.90M gross ticket sales).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Tracks revenue leakage due to cancelled rows ($519.84K).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Seat fare yields compared by bus class: Premium AC Sleeper yields the highest return ($952 avg fare) vs AC Seater ($718).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Distance-fare correlations show proportionate pricing scaling on long-distance runs.</a:t>
            </a:r>
          </a:p>
        </p:txBody>
      </p:sp>
      <p:pic>
        <p:nvPicPr>
          <p:cNvPr id="7" name="Picture 6" descr="Screenshot 2026-07-16 00530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9944" y="2286000"/>
            <a:ext cx="5212080" cy="292608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 panose="020B0502040204020203"/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 panose="020B0502040204020203"/>
              </a:defRPr>
            </a:pPr>
            <a:r>
              <a:t>Customer Profiles &amp; Cohort Retention (Page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 panose="020B0502040204020203"/>
              </a:defRPr>
            </a:pPr>
            <a:r>
              <a:t>11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06B6D4"/>
                </a:solidFill>
                <a:latin typeface="Segoe UI" panose="020B0502040204020203"/>
              </a:defRPr>
            </a:pPr>
            <a:r>
              <a:t>COHORT LOYALTY &amp; BRACKETS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Gauges customer retention rate at 75.0% vs. 80.0% corporate target.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Unique customer base sizing tracks 294 distinct users.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Age group split lists Age 25-45 and 45+ as driving 90%+ of ticket volume.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Average lifetime spend per customer stands at $30.27K with 35.31 average bookings.</a:t>
            </a:r>
          </a:p>
        </p:txBody>
      </p:sp>
      <p:pic>
        <p:nvPicPr>
          <p:cNvPr id="7" name="Picture 6" descr="Screenshot 2026-07-16 00532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9944" y="2286000"/>
            <a:ext cx="5212080" cy="292608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 panose="020B0502040204020203"/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 panose="020B0502040204020203"/>
              </a:defRPr>
            </a:pPr>
            <a:r>
              <a:t>Fleet Utilization &amp; Seating Capacity (Page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 panose="020B0502040204020203"/>
              </a:defRPr>
            </a:pPr>
            <a:r>
              <a:t>12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06B6D4"/>
                </a:solidFill>
                <a:latin typeface="Segoe UI" panose="020B0502040204020203"/>
              </a:defRPr>
            </a:pPr>
            <a:r>
              <a:t>LOAD FACTORS &amp; ASSETS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Monitors 11 active buses in fleet with a total of 470 seats.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Highlights average fleet load occupancy rate of 51.0%.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Seating Capacity vs Occupied Seats by Bus Type graph shows load factor profiles.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Active fleet asset yield table tracks revenue and occupancy on individual buses.</a:t>
            </a:r>
          </a:p>
        </p:txBody>
      </p:sp>
      <p:pic>
        <p:nvPicPr>
          <p:cNvPr id="7" name="Picture 6" descr="Screenshot 2026-07-16 00533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9944" y="2286000"/>
            <a:ext cx="5212080" cy="2926080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 panose="020B0502040204020203"/>
              </a:defRPr>
            </a:pPr>
            <a: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 panose="020B0502040204020203"/>
              </a:defRPr>
            </a:pPr>
            <a:r>
              <a:t>Route Performance &amp; Market Demands (Page 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 panose="020B0502040204020203"/>
              </a:defRPr>
            </a:pPr>
            <a:r>
              <a:t>13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06B6D4"/>
                </a:solidFill>
                <a:latin typeface="Segoe UI" panose="020B0502040204020203"/>
              </a:defRPr>
            </a:pPr>
            <a:r>
              <a:t>PASSENGER CORRIDORS &amp; VOLUMES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Monitors city-to-city commuter traffic flows across active routes.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High-density routes like Mumbai-Ahmedabad and Bangalore-Hyderabad represent peak revenue generators.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Average distance traveled scales cleanly with revenue per seat run.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Guides tactical route planning for vehicle redeployment.</a:t>
            </a:r>
          </a:p>
        </p:txBody>
      </p:sp>
      <p:pic>
        <p:nvPicPr>
          <p:cNvPr id="7" name="Picture 6" descr="Screenshot 2026-07-16 00535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9944" y="2286000"/>
            <a:ext cx="5212080" cy="292608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 panose="020B0502040204020203"/>
              </a:defRPr>
            </a:pPr>
            <a: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 panose="020B0502040204020203"/>
              </a:defRPr>
            </a:pPr>
            <a:r>
              <a:t>Operational Reports &amp; Auditing (Page 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 panose="020B0502040204020203"/>
              </a:defRPr>
            </a:pPr>
            <a:r>
              <a:t>14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06B6D4"/>
                </a:solidFill>
                <a:latin typeface="Segoe UI" panose="020B0502040204020203"/>
              </a:defRPr>
            </a:pPr>
            <a:r>
              <a:t>AUDIT RECORDS &amp; EXPORTS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Granular transaction tables list exact passenger rows.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Integrated dynamic search bars look up booking IDs and customer details instantly.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Supports direct CSV table exports for spreadsheet calculations.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Formatted alternating rows improve visual scannability.</a:t>
            </a:r>
          </a:p>
        </p:txBody>
      </p:sp>
      <p:pic>
        <p:nvPicPr>
          <p:cNvPr id="7" name="Picture 6" descr="Screenshot 2026-07-16 00541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9944" y="2286000"/>
            <a:ext cx="5212080" cy="292608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 panose="020B0502040204020203"/>
              </a:defRPr>
            </a:pPr>
            <a: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 panose="020B0502040204020203"/>
              </a:defRPr>
            </a:pPr>
            <a:r>
              <a:t>Alternative Design Variant (Tableau Layout)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 panose="020B0502040204020203"/>
              </a:defRPr>
            </a:pPr>
            <a:r>
              <a:t>15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06B6D4"/>
                </a:solidFill>
                <a:latin typeface="Segoe UI" panose="020B0502040204020203"/>
              </a:defRPr>
            </a:pPr>
            <a:r>
              <a:t>CROSS-PLATFORM STENCILS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Stenciled metric cards provide secondary cross-platform backups for data validation.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Aesthetic light modes with sky-blue accents designed as layout variants.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Allows database comparisons to verify that data volumes and values match across platforms.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 panose="020B0502040204020203"/>
              </a:defRPr>
            </a:pPr>
            <a:r>
              <a:t>◆  Features consistent calculated yield outputs for comparative checks.</a:t>
            </a:r>
          </a:p>
        </p:txBody>
      </p:sp>
      <p:pic>
        <p:nvPicPr>
          <p:cNvPr id="7" name="Picture 6" descr="WhatsApp Image 2026-07-16 at 9.37.26 AM.jpe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2286000"/>
            <a:ext cx="5394960" cy="3035808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 panose="020B0502040204020203"/>
              </a:defRPr>
            </a:pPr>
            <a: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 panose="020B0502040204020203"/>
              </a:defRPr>
            </a:pPr>
            <a:r>
              <a:t>Strategic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 panose="020B0502040204020203"/>
              </a:defRPr>
            </a:pPr>
            <a:r>
              <a:t>16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2377440"/>
            <a:ext cx="5120640" cy="164592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spcAft>
                <a:spcPts val="1400"/>
              </a:spcAft>
              <a:defRPr sz="1300" b="1">
                <a:solidFill>
                  <a:srgbClr val="06B6D4"/>
                </a:solidFill>
                <a:latin typeface="Segoe UI" panose="020B0502040204020203"/>
              </a:defRPr>
            </a:pPr>
            <a:r>
              <a:t>🎫 Pricing Managers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Leverage dynamic pricing during May-June peaks. Elevate AC Sleeper rates by 10% on high-demand weekends to capture maximum yield.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64224" y="2377440"/>
            <a:ext cx="5120640" cy="164592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spcAft>
                <a:spcPts val="1400"/>
              </a:spcAft>
              <a:defRPr sz="1300" b="1">
                <a:solidFill>
                  <a:srgbClr val="06B6D4"/>
                </a:solidFill>
                <a:latin typeface="Segoe UI" panose="020B0502040204020203"/>
              </a:defRPr>
            </a:pPr>
            <a:r>
              <a:t>🚌 Dispatch Coordinators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Improve the 51% fleet load factor. Consolidate low-occupancy weekday runs and reassign AC Seater buses to peak Bangalore/Delhi schedules.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4297680"/>
            <a:ext cx="5120640" cy="164592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spcAft>
                <a:spcPts val="1400"/>
              </a:spcAft>
              <a:defRPr sz="1300" b="1">
                <a:solidFill>
                  <a:srgbClr val="06B6D4"/>
                </a:solidFill>
                <a:latin typeface="Segoe UI" panose="020B0502040204020203"/>
              </a:defRPr>
            </a:pPr>
            <a:r>
              <a:t>📢 Marketing Specialists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Launch targeted loyalty campaigns to boost retention past the 80% mark, focusing on the highly-profitable 25-45 age group bracket.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64224" y="4297680"/>
            <a:ext cx="5120640" cy="164592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spcAft>
                <a:spcPts val="1400"/>
              </a:spcAft>
              <a:defRPr sz="1300" b="1">
                <a:solidFill>
                  <a:srgbClr val="06B6D4"/>
                </a:solidFill>
                <a:latin typeface="Segoe UI" panose="020B0502040204020203"/>
              </a:defRPr>
            </a:pPr>
            <a:r>
              <a:t>⚙️ System Architects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 panose="020B0502040204020203"/>
              </a:defRPr>
            </a:pPr>
            <a:r>
              <a:t>◆  Preserve the MySQL relational schema for secure append runs. Protect local server config details inside separated configuration keys.</a:t>
            </a:r>
          </a:p>
        </p:txBody>
      </p:sp>
    </p:spTree>
  </p:cSld>
  <p:clrMapOvr>
    <a:masterClrMapping/>
  </p:clrMapOvr>
  <p:transition spd="slow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468880"/>
            <a:ext cx="8503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6B6D4"/>
                </a:solidFill>
                <a:latin typeface="Segoe UI" panose="020B0502040204020203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0"/>
            <a:ext cx="8503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54A75"/>
                </a:solidFill>
                <a:latin typeface="Segoe UI" panose="020B0502040204020203"/>
              </a:defRPr>
            </a:pPr>
            <a:r>
              <a:t>Bus Booking Analytics System  |  Phase 2 Final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78275" y="4480560"/>
            <a:ext cx="4204970" cy="2914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64748B"/>
                </a:solidFill>
                <a:latin typeface="Segoe UI" panose="020B0502040204020203"/>
              </a:defRPr>
            </a:pPr>
            <a:r>
              <a:t>Harish, Harini, Gururaj Shetty  |  Revature Data Analytics</a:t>
            </a:r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7479</Words>
  <Application>WPS Presentation</Application>
  <PresentationFormat>On-screen Show (4:3)</PresentationFormat>
  <Paragraphs>242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6" baseType="lpstr">
      <vt:lpstr>Arial</vt:lpstr>
      <vt:lpstr>SimSun</vt:lpstr>
      <vt:lpstr>Wingdings</vt:lpstr>
      <vt:lpstr>Arial</vt:lpstr>
      <vt:lpstr>Segoe UI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Gururaj Shetty</cp:lastModifiedBy>
  <cp:revision>2</cp:revision>
  <dcterms:created xsi:type="dcterms:W3CDTF">2013-01-27T09:14:00Z</dcterms:created>
  <dcterms:modified xsi:type="dcterms:W3CDTF">2026-07-16T04:19:26Z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8A9CF8AD64684EF1BBDB67047F988ADB_12</vt:lpwstr>
  </property>
  <property fmtid="{D5CDD505-2E9C-101B-9397-08002B2CF9AE}" pid="3" name="KSOProductBuildVer">
    <vt:lpwstr>1033-12.1.0.26880</vt:lpwstr>
  </property>
</Properties>
</file>