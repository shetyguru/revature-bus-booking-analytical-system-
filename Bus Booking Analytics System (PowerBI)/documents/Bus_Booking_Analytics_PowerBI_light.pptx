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468880"/>
            <a:ext cx="1005840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Segoe UI"/>
              </a:defRPr>
            </a:pPr>
            <a:r>
              <a:t>POWER BI ANALYTICS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172A"/>
                </a:solidFill>
                <a:latin typeface="Segoe UI"/>
              </a:defRPr>
            </a:pPr>
            <a:r>
              <a:t>Bus Fleet Dispatch &amp; Yield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4155"/>
                </a:solidFill>
                <a:latin typeface="Segoe UI"/>
              </a:defRPr>
            </a:pPr>
            <a:r>
              <a:t>End-to-End Relational MySQL Preprocessing &amp; Dashboard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206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  <a:latin typeface="Segoe UI"/>
              </a:defRPr>
            </a:pPr>
            <a:r>
              <a:t>Submitted by: Gururaj Shetty  |  Revature Data Analytics Phase 2</a:t>
            </a:r>
            <a:br/>
            <a:r>
              <a:t>Phase 2 Final Project  |  Database Normalization &amp; Visualizations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F46E5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0152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01   ─   Project Overview &amp; Objectives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02   ─   Tools &amp; Technology Stack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03   ─   Data Preprocessing &amp; Cleaning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04   ─   MySQL Database Design &amp; Normalization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05   ─   Interactive Analytical Dashboards (Power BI)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06   ─   Operations &amp; Booking Insights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07   ─   Key Financial Findings &amp; Recommendations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push dir="l"/>
      </p:transition>
    </mc:Choice>
    <mc:Fallback>
      <p:transition spd="slow">
        <p:push dir="l"/>
      </p:transition>
    </mc:Fallback>
  </mc:AlternateContent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F46E5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Project Overview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F46E5"/>
                </a:solidFill>
                <a:latin typeface="Segoe UI"/>
              </a:defRPr>
            </a:pPr>
            <a:r>
              <a:t>⚡ 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Manual ticketing operations lack unified business reporting metrics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Inconsistent data logs (duplicate IDs, unparseable dates) skew metrics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Operations team lacks insights on asset yield and customer retention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46888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F46E5"/>
                </a:solidFill>
                <a:latin typeface="Segoe UI"/>
              </a:defRPr>
            </a:pPr>
            <a:r>
              <a:t>✅ 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30175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Standardize mixed date formats and deduplicate transaction lists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Build relational MySQL schema enforcing reference key integrity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Establish analytical dashboard platforms in Power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46888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F46E5"/>
                </a:solidFill>
                <a:latin typeface="Segoe UI"/>
              </a:defRPr>
            </a:pPr>
            <a:r>
              <a:t>🎯 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30175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Instant clarity on fleet load factor and ticket sales performance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Durable database structures support secure incremental loads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Data-driven routing guides operational dispatch strategies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F46E5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Tools &amp;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F46E5"/>
                </a:solidFill>
                <a:latin typeface="Segoe UI"/>
              </a:defRPr>
            </a:pPr>
            <a:r>
              <a:t>Python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Pandas, NumPy</a:t>
            </a:r>
            <a:br/>
            <a:r>
              <a:t>Core data processing</a:t>
            </a:r>
            <a:br/>
            <a:r>
              <a:t>&amp; validation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6517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F46E5"/>
                </a:solidFill>
                <a:latin typeface="Segoe UI"/>
              </a:defRPr>
            </a:pPr>
            <a:r>
              <a:t>MySQL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29184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Relational Database</a:t>
            </a:r>
            <a:br/>
            <a:r>
              <a:t>Staged schemas</a:t>
            </a:r>
            <a:br/>
            <a:r>
              <a:t>Reference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6517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F46E5"/>
                </a:solidFill>
                <a:latin typeface="Segoe UI"/>
              </a:defRPr>
            </a:pPr>
            <a:r>
              <a:t>Power BI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9184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Corporate visualization</a:t>
            </a:r>
            <a:br/>
            <a:r>
              <a:t>Dynamic filter panels</a:t>
            </a:r>
            <a:br/>
            <a:r>
              <a:t>Dashboard reporting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26517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F46E5"/>
                </a:solidFill>
                <a:latin typeface="Segoe UI"/>
              </a:defRPr>
            </a:pPr>
            <a:r>
              <a:t>DAX &amp; PQ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29184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Segoe UI"/>
              </a:defRPr>
            </a:pPr>
            <a:r>
              <a:t>Data modeling</a:t>
            </a:r>
            <a:br/>
            <a:r>
              <a:t>Power Query cleansing</a:t>
            </a:r>
            <a:br/>
            <a:r>
              <a:t>KPI measures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wipe dir="l"/>
      </p:transition>
    </mc:Choice>
    <mc:Fallback>
      <p:transition spd="slow">
        <p:wipe dir="l"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F46E5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Data Preprocessing &amp;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F46E5"/>
                </a:solidFill>
                <a:latin typeface="Segoe UI"/>
              </a:defRPr>
            </a:pPr>
            <a:r>
              <a:t>Automated Data Cleansing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Mixed Date parsing parses inconsistent DD/MM/YYYY and MM-DD-YYYY strings.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Deduplication enforces PK constraints by removing duplicate Booking_ID rows.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Missing gender entries and customer age outliers corrected to baseline medians.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Case normalization standardizes inconsistent names and statuses to clean casing.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Customer booking cap restricts maximum bookings to under 75 per user.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4F46E5"/>
                </a:solidFill>
                <a:latin typeface="Segoe UI"/>
              </a:defRPr>
            </a:pPr>
            <a:r>
              <a:t>🎯 PIPELINE OUTPUT METRICS</a:t>
            </a:r>
          </a:p>
          <a:p>
            <a:pPr>
              <a:defRPr sz="1200" b="1">
                <a:solidFill>
                  <a:srgbClr val="334155"/>
                </a:solidFill>
              </a:defRPr>
            </a:pPr>
            <a:r>
              <a:t>• Raw Input Volume: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11,848 booking records (dirty logs)</a:t>
            </a:r>
          </a:p>
          <a:p>
            <a:pPr>
              <a:defRPr sz="1200" b="1">
                <a:solidFill>
                  <a:srgbClr val="334155"/>
                </a:solidFill>
              </a:defRPr>
            </a:pPr>
            <a:r>
              <a:t>• Clean Output Volume: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10,381 booking records (fully validated)</a:t>
            </a:r>
          </a:p>
          <a:p>
            <a:pPr>
              <a:defRPr sz="1200" b="1">
                <a:solidFill>
                  <a:srgbClr val="334155"/>
                </a:solidFill>
              </a:defRPr>
            </a:pPr>
            <a:r>
              <a:t>• Database Constraint Enforced: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Travel_Date &gt;= Booking_Date</a:t>
            </a:r>
          </a:p>
          <a:p>
            <a:pPr>
              <a:defRPr sz="1200" b="1">
                <a:solidFill>
                  <a:srgbClr val="334155"/>
                </a:solidFill>
              </a:defRPr>
            </a:pPr>
            <a:r>
              <a:t>• Deduplicated Entries: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Removed 601 exact duplicate booking rows</a:t>
            </a:r>
          </a:p>
          <a:p>
            <a:pPr>
              <a:defRPr sz="1200" b="1">
                <a:solidFill>
                  <a:srgbClr val="334155"/>
                </a:solidFill>
              </a:defRPr>
            </a:pPr>
            <a:r>
              <a:t>• Customer Retention Target: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Cleaned skew lands at 75.0% retention rate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F46E5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MySQL Database Design &amp; Normalization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F46E5"/>
                </a:solidFill>
                <a:latin typeface="Segoe UI"/>
              </a:defRPr>
            </a:pPr>
            <a:r>
              <a:t>Relational Database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Structured in clean star-schema relational hierarchy.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Fact Table: Bookings contains foreign key bindings to dimensions.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Dimension Tables: Customers, Buses, and Routes hold core entities.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Strict foreign keys prevent orphan records and maintain database integrity.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Performance indexes configured on key query corridors.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4F46E5"/>
                </a:solidFill>
                <a:latin typeface="Segoe UI"/>
              </a:defRPr>
            </a:pPr>
            <a:r>
              <a:t>📂 TABLE SCHEMAS (DDL)</a:t>
            </a:r>
          </a:p>
          <a:p>
            <a:pPr>
              <a:defRPr sz="1200" b="1">
                <a:solidFill>
                  <a:srgbClr val="334155"/>
                </a:solidFill>
              </a:defRPr>
            </a:pPr>
            <a:r>
              <a:t>• Customers (Dimension):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  Customer_ID (PK) | Name | Email | Phone | Gender | Age</a:t>
            </a:r>
          </a:p>
          <a:p>
            <a:pPr>
              <a:defRPr sz="1200" b="1">
                <a:solidFill>
                  <a:srgbClr val="334155"/>
                </a:solidFill>
              </a:defRPr>
            </a:pPr>
            <a:r>
              <a:t>• Buses (Dimension):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  Bus_ID (PK) | Bus_Number | Bus_Type | Capacity</a:t>
            </a:r>
          </a:p>
          <a:p>
            <a:pPr>
              <a:defRPr sz="1200" b="1">
                <a:solidFill>
                  <a:srgbClr val="334155"/>
                </a:solidFill>
              </a:defRPr>
            </a:pPr>
            <a:r>
              <a:t>• Routes (Dimension):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  Route_ID (PK) | Source | Destination | Distance</a:t>
            </a:r>
          </a:p>
          <a:p>
            <a:pPr>
              <a:defRPr sz="1200" b="1">
                <a:solidFill>
                  <a:srgbClr val="334155"/>
                </a:solidFill>
              </a:defRPr>
            </a:pPr>
            <a:r>
              <a:t>• Bookings (Fact):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  Booking_ID (PK) | Customer_ID (FK) | Bus_ID (FK) | Route_ID (FK) | Booking_Date | Travel_Date | Seat_Number | Fare_Amount | Booking_Status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push dir="l"/>
      </p:transition>
    </mc:Choice>
    <mc:Fallback>
      <p:transition spd="slow">
        <p:push dir="l"/>
      </p:transition>
    </mc:Fallback>
  </mc:AlternateContent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F46E5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Executive Overview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4F46E5"/>
                </a:solidFill>
                <a:latin typeface="Segoe UI"/>
              </a:defRPr>
            </a:pPr>
            <a:r>
              <a:t>PAGE 1: CORE KPIs &amp; TRENDS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Tracks core corporate targets: Total Revenue ($479.85K) and Average Ticket Fare ($900.27) both exceed targets.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Monthly demand curves reveal high volumes peaking in May-June, with seasonal drops in late winter.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Confirmed vs. Cancelled cards identify exact transaction distributions (8.50K Confirmed rows).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Source hub split places Bangalore as the top ticket sales hub, generating $1.99M.</a:t>
            </a:r>
          </a:p>
        </p:txBody>
      </p:sp>
      <p:pic>
        <p:nvPicPr>
          <p:cNvPr id="7" name="Picture 6" descr="media__1784141692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F46E5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Operations &amp; Bookings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4F46E5"/>
                </a:solidFill>
                <a:latin typeface="Segoe UI"/>
              </a:defRPr>
            </a:pPr>
            <a:r>
              <a:t>PAGE 2: DEMAND &amp; VERIFICATION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Monitors average booking lead times (4.81 days) to guide scheduling schedules.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Shows confirmation rates (82.0%) and pending transactions ratios (12.0%).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Booking volume split by bus type: Non-AC Sleeper registers 3,143 reservations, AC Sleeper registers 2,883, and AC Seater 2,476.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Source corridor traffic lists Delhi corridor as the highest boarding corridor.</a:t>
            </a:r>
          </a:p>
        </p:txBody>
      </p:sp>
      <p:pic>
        <p:nvPicPr>
          <p:cNvPr id="7" name="Picture 6" descr="media__17841417252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wipe dir="l"/>
      </p:transition>
    </mc:Choice>
    <mc:Fallback>
      <p:transition spd="slow">
        <p:wipe dir="l"/>
      </p:transition>
    </mc:Fallback>
  </mc:AlternateContent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F46E5"/>
                </a:solidFill>
                <a:latin typeface="Segoe UI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Revenue &amp; Yield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4F46E5"/>
                </a:solidFill>
                <a:latin typeface="Segoe UI"/>
              </a:defRPr>
            </a:pPr>
            <a:r>
              <a:t>PAGE 3: FINANCIAL YIELD CORRIDORS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Audits gross vs net revenue channels ($8.90M gross ticket sales).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Tracks revenue leakage due to cancelled rows ($519.84K).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Seat fare yields compared by bus class: Premium AC Sleeper yields the highest return ($952 avg fare) vs AC Seater ($718).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Distance-fare correlations show proportionate pricing scaling on long-distance runs.</a:t>
            </a:r>
          </a:p>
        </p:txBody>
      </p:sp>
      <p:pic>
        <p:nvPicPr>
          <p:cNvPr id="7" name="Picture 6" descr="media__1784141745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F46E5"/>
                </a:solidFill>
                <a:latin typeface="Segoe UI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Customer Profiles &amp; Cohort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4F46E5"/>
                </a:solidFill>
                <a:latin typeface="Segoe UI"/>
              </a:defRPr>
            </a:pPr>
            <a:r>
              <a:t>PAGE 4: COHORT LOYALTY &amp; BRACKETS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Gauges customer retention rate at 75.0% vs. 80.0% corporate target.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Unique customer base sizing tracks 294 distinct users.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Age group split lists Age 25-45 and 45+ as driving 90%+ of ticket volume.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Average lifetime spend per customer stands at $30.27K with 35.31 average bookings.</a:t>
            </a:r>
          </a:p>
        </p:txBody>
      </p:sp>
      <p:pic>
        <p:nvPicPr>
          <p:cNvPr id="7" name="Picture 6" descr="media__17841417625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push dir="l"/>
      </p:transition>
    </mc:Choice>
    <mc:Fallback>
      <p:transition spd="slow">
        <p:push dir="l"/>
      </p:transition>
    </mc:Fallback>
  </mc:AlternateContent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F46E5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Fleet Utilization &amp; Seating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4F46E5"/>
                </a:solidFill>
                <a:latin typeface="Segoe UI"/>
              </a:defRPr>
            </a:pPr>
            <a:r>
              <a:t>PAGE 5: LOAD FACTORS &amp; ASSETS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Monitors 11 active buses in fleet with a total of 470 seats.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Highlights average fleet load occupancy rate of 51.0%.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Seating Capacity vs Occupied Seats by Bus Type graph shows load factor profiles.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Active fleet asset yield table tracks revenue and occupancy on individual buses.</a:t>
            </a:r>
          </a:p>
        </p:txBody>
      </p:sp>
      <p:pic>
        <p:nvPicPr>
          <p:cNvPr id="7" name="Picture 6" descr="media__1784141792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F46E5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Strategic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4F46E5"/>
                </a:solidFill>
                <a:latin typeface="Segoe UI"/>
              </a:defRPr>
            </a:pPr>
            <a:r>
              <a:t>▪ 🎫 Pricing Managers</a:t>
            </a:r>
          </a:p>
          <a:p>
            <a:pPr>
              <a:defRPr sz="1150">
                <a:solidFill>
                  <a:srgbClr val="334155"/>
                </a:solidFill>
                <a:latin typeface="Segoe UI"/>
              </a:defRPr>
            </a:pPr>
            <a:r>
              <a:t>Leverage dynamic pricing during May-June peaks. Elevate AC Sleeper rates by 10% on high-demand weekends to capture maximum yield.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37744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4F46E5"/>
                </a:solidFill>
                <a:latin typeface="Segoe UI"/>
              </a:defRPr>
            </a:pPr>
            <a:r>
              <a:t>▪ 🚌 Dispatch Coordinators</a:t>
            </a:r>
          </a:p>
          <a:p>
            <a:pPr>
              <a:defRPr sz="1150">
                <a:solidFill>
                  <a:srgbClr val="334155"/>
                </a:solidFill>
                <a:latin typeface="Segoe UI"/>
              </a:defRPr>
            </a:pPr>
            <a:r>
              <a:t>Improve the 51% fleet load factor. Consolidate low-occupancy weekday runs and reassign AC Seater buses to peak Bangalore/Delhi schedules.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9768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4F46E5"/>
                </a:solidFill>
                <a:latin typeface="Segoe UI"/>
              </a:defRPr>
            </a:pPr>
            <a:r>
              <a:t>▪ 📢 Marketing Specialists</a:t>
            </a:r>
          </a:p>
          <a:p>
            <a:pPr>
              <a:defRPr sz="1150">
                <a:solidFill>
                  <a:srgbClr val="334155"/>
                </a:solidFill>
                <a:latin typeface="Segoe UI"/>
              </a:defRPr>
            </a:pPr>
            <a:r>
              <a:t>Launch targeted loyalty campaigns to boost retention past the 80% mark, focusing on the highly-profitable 25-45 age group bracket.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29768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4F46E5"/>
                </a:solidFill>
                <a:latin typeface="Segoe UI"/>
              </a:defRPr>
            </a:pPr>
            <a:r>
              <a:t>▪ ⚙️ System Architects</a:t>
            </a:r>
          </a:p>
          <a:p>
            <a:pPr>
              <a:defRPr sz="1150">
                <a:solidFill>
                  <a:srgbClr val="334155"/>
                </a:solidFill>
                <a:latin typeface="Segoe UI"/>
              </a:defRPr>
            </a:pPr>
            <a:r>
              <a:t>Preserve the MySQL relational schema for secure append runs. Protect local server config details inside separated configuration keys.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wipe dir="l"/>
      </p:transition>
    </mc:Choice>
    <mc:Fallback>
      <p:transition spd="slow">
        <p:wipe dir="l"/>
      </p:transition>
    </mc:Fallback>
  </mc:AlternateContent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46888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4F46E5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0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Bus Booking Analytics System  |  Phase 2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480560"/>
            <a:ext cx="8503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  <a:latin typeface="Segoe UI"/>
              </a:defRPr>
            </a:pPr>
            <a:r>
              <a:t>Gururaj Shetty  |  Revature Data Analytics</a:t>
            </a:r>
            <a:br/>
            <a:r>
              <a:t>Email: shettygururaj279@gmail.com  |  GitHub: SHETYGURU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push dir="l"/>
      </p:transition>
    </mc:Choice>
    <mc:Fallback>
      <p:transition spd="slow">
        <p:push dir="l"/>
      </p:transition>
    </mc:Fallback>
  </mc:AlternateContent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