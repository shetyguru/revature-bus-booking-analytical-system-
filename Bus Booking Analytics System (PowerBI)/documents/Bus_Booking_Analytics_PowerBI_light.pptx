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10058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POWER BI ANALYTICS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54A75"/>
                </a:solidFill>
                <a:latin typeface="Segoe UI"/>
              </a:defRPr>
            </a:pPr>
            <a:r>
              <a:t>Bus Fleet Dispatch &amp; Yield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End-to-End Relational MySQL Preprocessing &amp; Dashboard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Segoe UI"/>
              </a:defRPr>
            </a:pPr>
            <a:r>
              <a:t>Submitted by: Harish, Harini, Gururaj Shetty  |  Revature Data Analytics Phase 2</a:t>
            </a:r>
            <a:br/>
            <a:r>
              <a:t>Phase 2 Final Project  |  Database Normalization &amp; Visualizations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01   ─   Project Overview &amp; Objectives</a:t>
            </a:r>
          </a:p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02   ─   Tools &amp; Technology Stack</a:t>
            </a:r>
          </a:p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03   ─   Data Preprocessing &amp; Cleaning</a:t>
            </a:r>
          </a:p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04   ─   MySQL Database Design &amp; Normalization</a:t>
            </a:r>
          </a:p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05   ─   Interactive Analytical Dashboards (Power BI)</a:t>
            </a:r>
          </a:p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06   ─   Operations &amp; Booking Insights</a:t>
            </a:r>
          </a:p>
          <a:p>
            <a:pPr>
              <a:spcAft>
                <a:spcPts val="14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07   ─   Key Financial Findings &amp; Recommendations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2468880"/>
            <a:ext cx="3474720" cy="365760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⚡ THE PROBLEM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Studios risk millions greenlighting films with no data-backed insights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Intuition-based decisions fail to predict ratings or revenue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Raw unstructured data hides critical patterns and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6864" y="2468880"/>
            <a:ext cx="3474720" cy="365760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✓ OUR SOLUTION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Clean &amp; preprocess 5,043-movie IMDB dataset with Python/Pandas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Build normalized MySQL schema (3NF) with junction tables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Create 7 interactive Plotly charts with real-time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75904" y="2468880"/>
            <a:ext cx="3474720" cy="365760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EAB308"/>
                </a:solidFill>
                <a:latin typeface="Segoe UI"/>
              </a:defRPr>
            </a:pPr>
            <a:r>
              <a:t>🎯 IMPACT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Data-driven decisions reduce financial risk for studios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Interactive dashboards enable on-the-fly business exploration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Actionable genre &amp; director insights for stakeholders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Tools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2560320"/>
            <a:ext cx="2560320" cy="338328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Python 3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Pandas, NumPy libraries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Core data cleaning engine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Constraint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2560320"/>
            <a:ext cx="2560320" cy="338328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MySQL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Relational tables structure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Durable staging keys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Performance indexes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8544" y="2560320"/>
            <a:ext cx="2560320" cy="338328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Power BI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Corporate data dashboards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Dynamic slicer panels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Executive summaries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73184" y="2560320"/>
            <a:ext cx="2560320" cy="338328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DAX &amp; PQ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Custom calculated measures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Power Query pipelines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Star-schema modeling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wipe dir="l"/>
      </p:transition>
    </mc:Choice>
    <mc:Fallback>
      <p:transition spd="slow">
        <p:wipe dir="l"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Data Preprocessing &amp;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Automated Data Cleansing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Mixed Date parsing parses inconsistent DD/MM/YYYY and MM-DD-YYYY strings.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Deduplication enforces PK constraints by removing duplicate Booking_ID rows.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Missing gender entries and customer age outliers corrected to baseline medians.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Case normalization standardizes inconsistent names and statuses to clean casing.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Customer booking cap restricts maximum bookings to under 75 per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9944" y="2377440"/>
            <a:ext cx="5212080" cy="356616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🎯 PIPELINE OUTPUT METRICS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Raw Input Volume: 11,848 booking records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Clean Output Volume: 10,381 booking records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Database Constraint Enforced: Travel_Date &gt;= Booking_Date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Deduplicated Entries: Removed 601 duplicate rows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Customer Retention Target: Cleansed at 75.0% rate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MySQL Database Design &amp;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Relational Database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Structured in clean star-schema relational hierarchy.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Fact Table: Bookings contains foreign key bindings to dimensions.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Dimension Tables: Customers, Buses, and Routes hold core entities.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Strict foreign keys prevent orphan records and maintain database integrity.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◆  Performance indexes configured on key query corridors.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9944" y="2377440"/>
            <a:ext cx="5212080" cy="356616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📂 TABLE SCHEMAS (DDL)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Customers: Customer_ID (PK) | Name | Email | Phone | Gender | Age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Buses: Bus_ID (PK) | Bus_Number | Bus_Type | Capacity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Routes: Route_ID (PK) | Source | Destination | Distance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Bookings: Booking_ID (PK) | Customer_ID (FK) | Bus_ID (FK) | Route_ID (FK)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Executive Overview Dashboard (Page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CORE KPIs &amp; GENERAL DEMANDS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Tracks core corporate targets: Total Revenue ($479.85K) and Average Ticket Fare ($900.27) both exceed targets.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Monthly demand curves reveal high volumes peaking in May-June, with seasonal drops in late winter.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Confirmed vs. Cancelled cards identify exact transaction distributions (8.50K Confirmed rows).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Source hub split places Bangalore as the top ticket sales hub, generating $1.99M.</a:t>
            </a:r>
          </a:p>
        </p:txBody>
      </p:sp>
      <p:pic>
        <p:nvPicPr>
          <p:cNvPr id="7" name="Picture 6" descr="Screenshot 2026-07-16 005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Operations &amp; Bookings Analysis (Page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DEMAND &amp; VERIFICATION RATIOS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Monitors average booking lead times (4.81 days) to guide scheduling schedules.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Shows confirmation rates (82.0%) and pending transactions ratios (12.0%).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Booking volume split by bus type: Non-AC Sleeper registers 3,143 reservations, AC Sleeper registers 2,883, and AC Seater 2,476.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Source corridor traffic lists Delhi corridor as the highest boarding corridor.</a:t>
            </a:r>
          </a:p>
        </p:txBody>
      </p:sp>
      <p:pic>
        <p:nvPicPr>
          <p:cNvPr id="7" name="Picture 6" descr="Screenshot 2026-07-16 005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wipe dir="l"/>
      </p:transition>
    </mc:Choice>
    <mc:Fallback>
      <p:transition spd="slow">
        <p:wipe dir="l"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Revenue &amp; Yield Optimization (Page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FINANCIAL YIELD CORRIDORS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Audits gross vs net revenue channels ($8.90M gross ticket sales).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Tracks revenue leakage due to cancelled rows ($519.84K).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Seat fare yields compared by bus class: Premium AC Sleeper yields the highest return ($952 avg fare) vs AC Seater ($718).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Distance-fare correlations show proportionate pricing scaling on long-distance runs.</a:t>
            </a:r>
          </a:p>
        </p:txBody>
      </p:sp>
      <p:pic>
        <p:nvPicPr>
          <p:cNvPr id="7" name="Picture 6" descr="Screenshot 2026-07-16 005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Customer Profiles &amp; Cohort Retention (Page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COHORT LOYALTY &amp; BRACKETS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Gauges customer retention rate at 75.0% vs. 80.0% corporate target.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Unique customer base sizing tracks 294 distinct users.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Age group split lists Age 25-45 and 45+ as driving 90%+ of ticket volume.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Average lifetime spend per customer stands at $30.27K with 35.31 average bookings.</a:t>
            </a:r>
          </a:p>
        </p:txBody>
      </p:sp>
      <p:pic>
        <p:nvPicPr>
          <p:cNvPr id="7" name="Picture 6" descr="Screenshot 2026-07-16 005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Fleet Utilization &amp; Seating Capacity (Page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LOAD FACTORS &amp; ASSETS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Monitors 11 active buses in fleet with a total of 470 seats.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Highlights average fleet load occupancy rate of 51.0%.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Seating Capacity vs Occupied Seats by Bus Type graph shows load factor profiles.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Active fleet asset yield table tracks revenue and occupancy on individual buses.</a:t>
            </a:r>
          </a:p>
        </p:txBody>
      </p:sp>
      <p:pic>
        <p:nvPicPr>
          <p:cNvPr id="7" name="Picture 6" descr="Screenshot 2026-07-16 005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Route Performance &amp; Market Demands (Page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PASSENGER CORRIDORS &amp; VOLUMES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Monitors city-to-city commuter traffic flows across active routes.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High-density routes like Mumbai-Ahmedabad and Bangalore-Hyderabad represent peak revenue generators.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Average distance traveled scales cleanly with revenue per seat run.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Guides tactical route planning for vehicle redeployment.</a:t>
            </a:r>
          </a:p>
        </p:txBody>
      </p:sp>
      <p:pic>
        <p:nvPicPr>
          <p:cNvPr id="7" name="Picture 6" descr="Screenshot 2026-07-16 005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wipe dir="l"/>
      </p:transition>
    </mc:Choice>
    <mc:Fallback>
      <p:transition spd="slow">
        <p:wipe dir="l"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Operational Reports &amp; Auditing (Page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AUDIT RECORDS &amp; EXPORTS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Granular transaction tables list exact passenger rows.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Integrated dynamic search bars look up booking IDs and customer details instantly.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Supports direct CSV table exports for spreadsheet calculations.</a:t>
            </a:r>
          </a:p>
          <a:p>
            <a:pPr>
              <a:spcAft>
                <a:spcPts val="12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◆  Formatted alternating rows improve visual scannability.</a:t>
            </a:r>
          </a:p>
        </p:txBody>
      </p:sp>
      <p:pic>
        <p:nvPicPr>
          <p:cNvPr id="7" name="Picture 6" descr="Screenshot 2026-07-16 0054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286000"/>
            <a:ext cx="5212080" cy="2926080"/>
          </a:xfrm>
          <a:prstGeom prst="rect">
            <a:avLst/>
          </a:prstGeom>
        </p:spPr>
      </p:pic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4A75"/>
                </a:solidFill>
                <a:latin typeface="Segoe UI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14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377440"/>
            <a:ext cx="5120640" cy="164592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🎫 Pricing Managers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Leverage dynamic pricing during May-June peaks. Elevate AC Sleeper rates by 10% on high-demand weekends to capture maximum yield.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2377440"/>
            <a:ext cx="5120640" cy="164592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🚌 Dispatch Coordinators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Improve the 51% fleet load factor. Consolidate low-occupancy weekday runs and reassign AC Seater buses to peak Bangalore/Delhi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4297680"/>
            <a:ext cx="5120640" cy="164592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📢 Marketing Specialists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Launch targeted loyalty campaigns to boost retention past the 80% mark, focusing on the highly-profitable 25-45 age group bracket.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4297680"/>
            <a:ext cx="5120640" cy="1645920"/>
          </a:xfrm>
          <a:prstGeom prst="roundRect">
            <a:avLst/>
          </a:prstGeom>
          <a:solidFill>
            <a:srgbClr val="1A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⚙️ System Architects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◆  Preserve the MySQL relational schema for secure append runs. Protect local server config details inside separated configuration keys.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4688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54A75"/>
                </a:solidFill>
                <a:latin typeface="Segoe UI"/>
              </a:defRPr>
            </a:pPr>
            <a:r>
              <a:t>Bus Booking Analytics System  |  Phase 2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4805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  <a:latin typeface="Segoe UI"/>
              </a:defRPr>
            </a:pPr>
            <a:r>
              <a:t>Harish, Harini, Gururaj Shetty  |  Revature Data Analytics</a:t>
            </a:r>
            <a:br/>
            <a:r>
              <a:t>Email: shettygururaj279@gmail.com  |  GitHub: SHETYGURU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