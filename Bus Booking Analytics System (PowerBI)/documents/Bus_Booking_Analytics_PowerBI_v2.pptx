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601200" y="630936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94A3B8"/>
                </a:solidFill>
                <a:latin typeface="Segoe UI"/>
              </a:defRPr>
            </a:pPr>
            <a:r>
              <a:t>SHETYGURU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468880"/>
            <a:ext cx="10058400" cy="978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6B6D4"/>
                </a:solidFill>
                <a:latin typeface="Segoe UI"/>
              </a:defRPr>
            </a:pPr>
            <a:r>
              <a:t>BUS BOOKING ANALYTICS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10896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1F5F9"/>
                </a:solidFill>
                <a:latin typeface="Segoe UI"/>
              </a:defRPr>
            </a:pPr>
            <a:r>
              <a:t>Data Engineering &amp; Dashboard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438912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94A3B8"/>
                </a:solidFill>
                <a:latin typeface="Segoe UI"/>
              </a:defRPr>
            </a:pPr>
            <a:r>
              <a:t>End-to-End Relational Engineering &amp; Power BI / Tableau Analytics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512064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94A3B8"/>
                </a:solidFill>
                <a:latin typeface="Segoe UI"/>
              </a:defRPr>
            </a:pPr>
            <a:r>
              <a:t>Submitted by: Gururaj Shetty  |  Revature Data Analytics Phase 2</a:t>
            </a:r>
            <a:br/>
            <a:r>
              <a:t>Phase 2 Final Project  |  Database Normalization &amp; Visualizations</a:t>
            </a:r>
          </a:p>
        </p:txBody>
      </p:sp>
    </p:spTree>
  </p:cSld>
  <mc:AlternateContent xmlns:mc="http://schemas.openxmlformats.org/markup-compatibility/2006">
    <mc:Choice xmlns:p14="http://schemas.microsoft.com/office/powerpoint/2010/main" Requires="p14">
      <p:transition spd="slow">
        <p:fade/>
      </p:transition>
    </mc:Choice>
    <mc:Fallback>
      <p:transition spd="slow">
        <p:fade/>
      </p:transition>
    </mc:Fallback>
  </mc:AlternateContent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371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6B6D4"/>
                </a:solidFill>
                <a:latin typeface="Segoe UI"/>
              </a:defRPr>
            </a:pPr>
            <a: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17320"/>
            <a:ext cx="3657600" cy="365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1F5F9"/>
                </a:solidFill>
                <a:latin typeface="Segoe UI"/>
              </a:defRPr>
            </a:pPr>
            <a: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630936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94A3B8"/>
                </a:solidFill>
                <a:latin typeface="Segoe UI"/>
              </a:defRPr>
            </a:pPr>
            <a:r>
              <a:t>SHETYGURU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30936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2 /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86000"/>
            <a:ext cx="10360152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F1F5F9"/>
                </a:solidFill>
                <a:latin typeface="Segoe UI"/>
              </a:defRPr>
            </a:pPr>
            <a:r>
              <a:t>01   ─   Project Overview &amp; Objectives</a:t>
            </a:r>
          </a:p>
          <a:p>
            <a:pPr>
              <a:spcAft>
                <a:spcPts val="1400"/>
              </a:spcAft>
              <a:defRPr sz="1600" b="1">
                <a:solidFill>
                  <a:srgbClr val="F1F5F9"/>
                </a:solidFill>
                <a:latin typeface="Segoe UI"/>
              </a:defRPr>
            </a:pPr>
            <a:r>
              <a:t>02   ─   Tools &amp; Technology Stack</a:t>
            </a:r>
          </a:p>
          <a:p>
            <a:pPr>
              <a:spcAft>
                <a:spcPts val="1400"/>
              </a:spcAft>
              <a:defRPr sz="1600" b="1">
                <a:solidFill>
                  <a:srgbClr val="F1F5F9"/>
                </a:solidFill>
                <a:latin typeface="Segoe UI"/>
              </a:defRPr>
            </a:pPr>
            <a:r>
              <a:t>03   ─   Data Preprocessing &amp; Cleaning</a:t>
            </a:r>
          </a:p>
          <a:p>
            <a:pPr>
              <a:spcAft>
                <a:spcPts val="1400"/>
              </a:spcAft>
              <a:defRPr sz="1600" b="1">
                <a:solidFill>
                  <a:srgbClr val="F1F5F9"/>
                </a:solidFill>
                <a:latin typeface="Segoe UI"/>
              </a:defRPr>
            </a:pPr>
            <a:r>
              <a:t>04   ─   MySQL Database Design &amp; Normalization</a:t>
            </a:r>
          </a:p>
          <a:p>
            <a:pPr>
              <a:spcAft>
                <a:spcPts val="1400"/>
              </a:spcAft>
              <a:defRPr sz="1600" b="1">
                <a:solidFill>
                  <a:srgbClr val="F1F5F9"/>
                </a:solidFill>
                <a:latin typeface="Segoe UI"/>
              </a:defRPr>
            </a:pPr>
            <a:r>
              <a:t>05   ─   Interactive Analytical Dashboards</a:t>
            </a:r>
          </a:p>
          <a:p>
            <a:pPr>
              <a:spcAft>
                <a:spcPts val="1400"/>
              </a:spcAft>
              <a:defRPr sz="1600" b="1">
                <a:solidFill>
                  <a:srgbClr val="F1F5F9"/>
                </a:solidFill>
                <a:latin typeface="Segoe UI"/>
              </a:defRPr>
            </a:pPr>
            <a:r>
              <a:t>06   ─   Operations &amp; Booking Insights</a:t>
            </a:r>
          </a:p>
          <a:p>
            <a:pPr>
              <a:spcAft>
                <a:spcPts val="1400"/>
              </a:spcAft>
              <a:defRPr sz="1600" b="1">
                <a:solidFill>
                  <a:srgbClr val="F1F5F9"/>
                </a:solidFill>
                <a:latin typeface="Segoe UI"/>
              </a:defRPr>
            </a:pPr>
            <a:r>
              <a:t>07   ─   Key Financial Findings &amp; Recommendations</a:t>
            </a:r>
          </a:p>
        </p:txBody>
      </p:sp>
    </p:spTree>
  </p:cSld>
  <mc:AlternateContent xmlns:mc="http://schemas.openxmlformats.org/markup-compatibility/2006">
    <mc:Choice xmlns:p14="http://schemas.microsoft.com/office/powerpoint/2010/main" Requires="p14">
      <p:transition spd="slow">
        <p:push dir="l"/>
      </p:transition>
    </mc:Choice>
    <mc:Fallback>
      <p:transition spd="slow">
        <p:push dir="l"/>
      </p:transition>
    </mc:Fallback>
  </mc:AlternateContent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371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6B6D4"/>
                </a:solidFill>
                <a:latin typeface="Segoe UI"/>
              </a:defRPr>
            </a:pPr>
            <a: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17320"/>
            <a:ext cx="3657600" cy="365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1F5F9"/>
                </a:solidFill>
                <a:latin typeface="Segoe UI"/>
              </a:defRPr>
            </a:pPr>
            <a:r>
              <a:t>Project Overview &amp;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630936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94A3B8"/>
                </a:solidFill>
                <a:latin typeface="Segoe UI"/>
              </a:defRPr>
            </a:pPr>
            <a:r>
              <a:t>SHETYGURU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30936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3 /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6B6D4"/>
                </a:solidFill>
                <a:latin typeface="Segoe UI"/>
              </a:defRPr>
            </a:pPr>
            <a:r>
              <a:t>⚡ THE 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017520"/>
            <a:ext cx="34747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>
                <a:solidFill>
                  <a:srgbClr val="F1F5F9"/>
                </a:solidFill>
                <a:latin typeface="Segoe UI"/>
              </a:defRPr>
            </a:pPr>
            <a:r>
              <a:t>◆  Manual ticketing operations lack unified business reporting metrics</a:t>
            </a:r>
          </a:p>
          <a:p>
            <a:pPr>
              <a:spcAft>
                <a:spcPts val="1200"/>
              </a:spcAft>
              <a:defRPr sz="1200">
                <a:solidFill>
                  <a:srgbClr val="F1F5F9"/>
                </a:solidFill>
                <a:latin typeface="Segoe UI"/>
              </a:defRPr>
            </a:pPr>
            <a:r>
              <a:t>◆  Inconsistent data logs (duplicate IDs, unparseable dates) skew metrics</a:t>
            </a:r>
          </a:p>
          <a:p>
            <a:pPr>
              <a:spcAft>
                <a:spcPts val="1200"/>
              </a:spcAft>
              <a:defRPr sz="1200">
                <a:solidFill>
                  <a:srgbClr val="F1F5F9"/>
                </a:solidFill>
                <a:latin typeface="Segoe UI"/>
              </a:defRPr>
            </a:pPr>
            <a:r>
              <a:t>◆  Operations team lacks insights on asset yield and customer retention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0" y="246888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6B6D4"/>
                </a:solidFill>
                <a:latin typeface="Segoe UI"/>
              </a:defRPr>
            </a:pPr>
            <a:r>
              <a:t>✅ OUR SOLUTION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3017520"/>
            <a:ext cx="34747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>
                <a:solidFill>
                  <a:srgbClr val="F1F5F9"/>
                </a:solidFill>
                <a:latin typeface="Segoe UI"/>
              </a:defRPr>
            </a:pPr>
            <a:r>
              <a:t>◆  Standardize mixed date formats and deduplicate transaction lists</a:t>
            </a:r>
          </a:p>
          <a:p>
            <a:pPr>
              <a:spcAft>
                <a:spcPts val="1200"/>
              </a:spcAft>
              <a:defRPr sz="1200">
                <a:solidFill>
                  <a:srgbClr val="F1F5F9"/>
                </a:solidFill>
                <a:latin typeface="Segoe UI"/>
              </a:defRPr>
            </a:pPr>
            <a:r>
              <a:t>◆  Build relational MySQL schema enforcing reference key integrity</a:t>
            </a:r>
          </a:p>
          <a:p>
            <a:pPr>
              <a:spcAft>
                <a:spcPts val="1200"/>
              </a:spcAft>
              <a:defRPr sz="1200">
                <a:solidFill>
                  <a:srgbClr val="F1F5F9"/>
                </a:solidFill>
                <a:latin typeface="Segoe UI"/>
              </a:defRPr>
            </a:pPr>
            <a:r>
              <a:t>◆  Establish analytical dashboard platforms in Power BI and Tableau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0" y="246888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6B6D4"/>
                </a:solidFill>
                <a:latin typeface="Segoe UI"/>
              </a:defRPr>
            </a:pPr>
            <a:r>
              <a:t>🎯 IMPACT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0" y="3017520"/>
            <a:ext cx="34747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>
                <a:solidFill>
                  <a:srgbClr val="F1F5F9"/>
                </a:solidFill>
                <a:latin typeface="Segoe UI"/>
              </a:defRPr>
            </a:pPr>
            <a:r>
              <a:t>◆  Instant clarity on fleet load factor and ticket sales performance</a:t>
            </a:r>
          </a:p>
          <a:p>
            <a:pPr>
              <a:spcAft>
                <a:spcPts val="1200"/>
              </a:spcAft>
              <a:defRPr sz="1200">
                <a:solidFill>
                  <a:srgbClr val="F1F5F9"/>
                </a:solidFill>
                <a:latin typeface="Segoe UI"/>
              </a:defRPr>
            </a:pPr>
            <a:r>
              <a:t>◆  Durable database structures support secure incremental loads</a:t>
            </a:r>
          </a:p>
          <a:p>
            <a:pPr>
              <a:spcAft>
                <a:spcPts val="1200"/>
              </a:spcAft>
              <a:defRPr sz="1200">
                <a:solidFill>
                  <a:srgbClr val="F1F5F9"/>
                </a:solidFill>
                <a:latin typeface="Segoe UI"/>
              </a:defRPr>
            </a:pPr>
            <a:r>
              <a:t>◆  Data-driven routing guides operational dispatch strategies</a:t>
            </a:r>
          </a:p>
        </p:txBody>
      </p:sp>
    </p:spTree>
  </p:cSld>
  <mc:AlternateContent xmlns:mc="http://schemas.openxmlformats.org/markup-compatibility/2006">
    <mc:Choice xmlns:p14="http://schemas.microsoft.com/office/powerpoint/2010/main" Requires="p14">
      <p:transition spd="slow">
        <p:fade/>
      </p:transition>
    </mc:Choice>
    <mc:Fallback>
      <p:transition spd="slow">
        <p:fade/>
      </p:transition>
    </mc:Fallback>
  </mc:AlternateContent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371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6B6D4"/>
                </a:solidFill>
                <a:latin typeface="Segoe UI"/>
              </a:defRPr>
            </a:pPr>
            <a: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17320"/>
            <a:ext cx="3657600" cy="365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1F5F9"/>
                </a:solidFill>
                <a:latin typeface="Segoe UI"/>
              </a:defRPr>
            </a:pPr>
            <a:r>
              <a:t>Tools &amp; Technology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630936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94A3B8"/>
                </a:solidFill>
                <a:latin typeface="Segoe UI"/>
              </a:defRPr>
            </a:pPr>
            <a:r>
              <a:t>SHETYGURU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30936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4 /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5176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6B6D4"/>
                </a:solidFill>
                <a:latin typeface="Segoe UI"/>
              </a:defRPr>
            </a:pPr>
            <a:r>
              <a:t>Python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291840"/>
            <a:ext cx="25603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F1F5F9"/>
                </a:solidFill>
                <a:latin typeface="Segoe UI"/>
              </a:defRPr>
            </a:pPr>
            <a:r>
              <a:t>Pandas, NumPy</a:t>
            </a:r>
            <a:br/>
            <a:r>
              <a:t>Core data processing</a:t>
            </a:r>
            <a:br/>
            <a:r>
              <a:t>&amp; validation engine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0" y="265176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6B6D4"/>
                </a:solidFill>
                <a:latin typeface="Segoe UI"/>
              </a:defRPr>
            </a:pPr>
            <a:r>
              <a:t>MySQL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0" y="3291840"/>
            <a:ext cx="25603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F1F5F9"/>
                </a:solidFill>
                <a:latin typeface="Segoe UI"/>
              </a:defRPr>
            </a:pPr>
            <a:r>
              <a:t>Relational Database</a:t>
            </a:r>
            <a:br/>
            <a:r>
              <a:t>Staged schemas</a:t>
            </a:r>
            <a:br/>
            <a:r>
              <a:t>Reference keys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265176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6B6D4"/>
                </a:solidFill>
                <a:latin typeface="Segoe UI"/>
              </a:defRPr>
            </a:pPr>
            <a:r>
              <a:t>Power BI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3291840"/>
            <a:ext cx="25603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F1F5F9"/>
                </a:solidFill>
                <a:latin typeface="Segoe UI"/>
              </a:defRPr>
            </a:pPr>
            <a:r>
              <a:t>Corporate visualization</a:t>
            </a:r>
            <a:br/>
            <a:r>
              <a:t>Dynamic filter panels</a:t>
            </a:r>
            <a:br/>
            <a:r>
              <a:t>DAX calculations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0" y="265176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6B6D4"/>
                </a:solidFill>
                <a:latin typeface="Segoe UI"/>
              </a:defRPr>
            </a:pPr>
            <a:r>
              <a:t>Tableau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0" y="3291840"/>
            <a:ext cx="25603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F1F5F9"/>
                </a:solidFill>
                <a:latin typeface="Segoe UI"/>
              </a:defRPr>
            </a:pPr>
            <a:r>
              <a:t>Interactive BI</a:t>
            </a:r>
            <a:br/>
            <a:r>
              <a:t>Custom card stencils</a:t>
            </a:r>
            <a:br/>
            <a:r>
              <a:t>Parameter triggers</a:t>
            </a:r>
          </a:p>
        </p:txBody>
      </p:sp>
    </p:spTree>
  </p:cSld>
  <mc:AlternateContent xmlns:mc="http://schemas.openxmlformats.org/markup-compatibility/2006">
    <mc:Choice xmlns:p14="http://schemas.microsoft.com/office/powerpoint/2010/main" Requires="p14">
      <p:transition spd="slow">
        <p:wipe dir="l"/>
      </p:transition>
    </mc:Choice>
    <mc:Fallback>
      <p:transition spd="slow">
        <p:wipe dir="l"/>
      </p:transition>
    </mc:Fallback>
  </mc:AlternateContent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371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6B6D4"/>
                </a:solidFill>
                <a:latin typeface="Segoe UI"/>
              </a:defRPr>
            </a:pPr>
            <a: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17320"/>
            <a:ext cx="3657600" cy="365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1F5F9"/>
                </a:solidFill>
                <a:latin typeface="Segoe UI"/>
              </a:defRPr>
            </a:pPr>
            <a:r>
              <a:t>Data Preprocessing &amp; Cleaning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630936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94A3B8"/>
                </a:solidFill>
                <a:latin typeface="Segoe UI"/>
              </a:defRPr>
            </a:pPr>
            <a:r>
              <a:t>SHETYGURU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30936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5 /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37744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6B6D4"/>
                </a:solidFill>
                <a:latin typeface="Segoe UI"/>
              </a:defRPr>
            </a:pPr>
            <a:r>
              <a:t>Automated Data Cleansing Steps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926080"/>
            <a:ext cx="5303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>
                <a:solidFill>
                  <a:srgbClr val="F1F5F9"/>
                </a:solidFill>
                <a:latin typeface="Segoe UI"/>
              </a:defRPr>
            </a:pPr>
            <a:r>
              <a:t>◆  Mixed Date parsing parses inconsistent DD/MM/YYYY and MM-DD-YYYY strings.</a:t>
            </a:r>
          </a:p>
          <a:p>
            <a:pPr>
              <a:spcAft>
                <a:spcPts val="1000"/>
              </a:spcAft>
              <a:defRPr sz="1200">
                <a:solidFill>
                  <a:srgbClr val="F1F5F9"/>
                </a:solidFill>
                <a:latin typeface="Segoe UI"/>
              </a:defRPr>
            </a:pPr>
            <a:r>
              <a:t>◆  Deduplication enforces PK constraints by removing duplicate Booking_ID rows.</a:t>
            </a:r>
          </a:p>
          <a:p>
            <a:pPr>
              <a:spcAft>
                <a:spcPts val="1000"/>
              </a:spcAft>
              <a:defRPr sz="1200">
                <a:solidFill>
                  <a:srgbClr val="F1F5F9"/>
                </a:solidFill>
                <a:latin typeface="Segoe UI"/>
              </a:defRPr>
            </a:pPr>
            <a:r>
              <a:t>◆  Missing gender entries and customer age outliers corrected to baseline medians.</a:t>
            </a:r>
          </a:p>
          <a:p>
            <a:pPr>
              <a:spcAft>
                <a:spcPts val="1000"/>
              </a:spcAft>
              <a:defRPr sz="1200">
                <a:solidFill>
                  <a:srgbClr val="F1F5F9"/>
                </a:solidFill>
                <a:latin typeface="Segoe UI"/>
              </a:defRPr>
            </a:pPr>
            <a:r>
              <a:t>◆  Case normalization standardizes inconsistent names and statuses to clean casing.</a:t>
            </a:r>
          </a:p>
          <a:p>
            <a:pPr>
              <a:spcAft>
                <a:spcPts val="1000"/>
              </a:spcAft>
              <a:defRPr sz="1200">
                <a:solidFill>
                  <a:srgbClr val="F1F5F9"/>
                </a:solidFill>
                <a:latin typeface="Segoe UI"/>
              </a:defRPr>
            </a:pPr>
            <a:r>
              <a:t>◆  Customer booking cap restricts maximum bookings to under 75 per user.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2377440"/>
            <a:ext cx="53035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500" b="1">
                <a:solidFill>
                  <a:srgbClr val="06B6D4"/>
                </a:solidFill>
                <a:latin typeface="Segoe UI"/>
              </a:defRPr>
            </a:pPr>
            <a:r>
              <a:t>🎯 PIPELINE OUTPUT METRICS</a:t>
            </a:r>
          </a:p>
          <a:p>
            <a:pPr>
              <a:defRPr sz="1200" b="1">
                <a:solidFill>
                  <a:srgbClr val="F1F5F9"/>
                </a:solidFill>
              </a:defRPr>
            </a:pPr>
            <a:r>
              <a:t>• Raw Input Volume:</a:t>
            </a:r>
          </a:p>
          <a:p>
            <a:pPr>
              <a:spcAft>
                <a:spcPts val="800"/>
              </a:spcAft>
              <a:defRPr sz="1100">
                <a:solidFill>
                  <a:srgbClr val="94A3B8"/>
                </a:solidFill>
              </a:defRPr>
            </a:pPr>
            <a:r>
              <a:t>  11,848 booking records (dirty logs)</a:t>
            </a:r>
          </a:p>
          <a:p>
            <a:pPr>
              <a:defRPr sz="1200" b="1">
                <a:solidFill>
                  <a:srgbClr val="F1F5F9"/>
                </a:solidFill>
              </a:defRPr>
            </a:pPr>
            <a:r>
              <a:t>• Clean Output Volume:</a:t>
            </a:r>
          </a:p>
          <a:p>
            <a:pPr>
              <a:spcAft>
                <a:spcPts val="800"/>
              </a:spcAft>
              <a:defRPr sz="1100">
                <a:solidFill>
                  <a:srgbClr val="94A3B8"/>
                </a:solidFill>
              </a:defRPr>
            </a:pPr>
            <a:r>
              <a:t>  10,381 booking records (fully validated)</a:t>
            </a:r>
          </a:p>
          <a:p>
            <a:pPr>
              <a:defRPr sz="1200" b="1">
                <a:solidFill>
                  <a:srgbClr val="F1F5F9"/>
                </a:solidFill>
              </a:defRPr>
            </a:pPr>
            <a:r>
              <a:t>• Database Constraint Enforced:</a:t>
            </a:r>
          </a:p>
          <a:p>
            <a:pPr>
              <a:spcAft>
                <a:spcPts val="800"/>
              </a:spcAft>
              <a:defRPr sz="1100">
                <a:solidFill>
                  <a:srgbClr val="94A3B8"/>
                </a:solidFill>
              </a:defRPr>
            </a:pPr>
            <a:r>
              <a:t>  Travel_Date &gt;= Booking_Date</a:t>
            </a:r>
          </a:p>
          <a:p>
            <a:pPr>
              <a:defRPr sz="1200" b="1">
                <a:solidFill>
                  <a:srgbClr val="F1F5F9"/>
                </a:solidFill>
              </a:defRPr>
            </a:pPr>
            <a:r>
              <a:t>• Deduplicated Entries:</a:t>
            </a:r>
          </a:p>
          <a:p>
            <a:pPr>
              <a:spcAft>
                <a:spcPts val="800"/>
              </a:spcAft>
              <a:defRPr sz="1100">
                <a:solidFill>
                  <a:srgbClr val="94A3B8"/>
                </a:solidFill>
              </a:defRPr>
            </a:pPr>
            <a:r>
              <a:t>  Removed 601 exact duplicate booking rows</a:t>
            </a:r>
          </a:p>
          <a:p>
            <a:pPr>
              <a:defRPr sz="1200" b="1">
                <a:solidFill>
                  <a:srgbClr val="F1F5F9"/>
                </a:solidFill>
              </a:defRPr>
            </a:pPr>
            <a:r>
              <a:t>• Customer Retention Target:</a:t>
            </a:r>
          </a:p>
          <a:p>
            <a:pPr>
              <a:spcAft>
                <a:spcPts val="800"/>
              </a:spcAft>
              <a:defRPr sz="1100">
                <a:solidFill>
                  <a:srgbClr val="94A3B8"/>
                </a:solidFill>
              </a:defRPr>
            </a:pPr>
            <a:r>
              <a:t>  Cleaned skew lands at 75.0% retention rate</a:t>
            </a:r>
          </a:p>
        </p:txBody>
      </p:sp>
    </p:spTree>
  </p:cSld>
  <mc:AlternateContent xmlns:mc="http://schemas.openxmlformats.org/markup-compatibility/2006">
    <mc:Choice xmlns:p14="http://schemas.microsoft.com/office/powerpoint/2010/main" Requires="p14">
      <p:transition spd="slow">
        <p:fade/>
      </p:transition>
    </mc:Choice>
    <mc:Fallback>
      <p:transition spd="slow">
        <p:fade/>
      </p:transition>
    </mc:Fallback>
  </mc:AlternateContent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371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6B6D4"/>
                </a:solidFill>
                <a:latin typeface="Segoe UI"/>
              </a:defRPr>
            </a:pPr>
            <a: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17320"/>
            <a:ext cx="3657600" cy="365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1F5F9"/>
                </a:solidFill>
                <a:latin typeface="Segoe UI"/>
              </a:defRPr>
            </a:pPr>
            <a:r>
              <a:t>MySQL Database Design &amp; Normalization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630936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94A3B8"/>
                </a:solidFill>
                <a:latin typeface="Segoe UI"/>
              </a:defRPr>
            </a:pPr>
            <a:r>
              <a:t>SHETYGURU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30936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6 /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37744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6B6D4"/>
                </a:solidFill>
                <a:latin typeface="Segoe UI"/>
              </a:defRPr>
            </a:pPr>
            <a:r>
              <a:t>Relational Database Structure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926080"/>
            <a:ext cx="5303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>
                <a:solidFill>
                  <a:srgbClr val="F1F5F9"/>
                </a:solidFill>
                <a:latin typeface="Segoe UI"/>
              </a:defRPr>
            </a:pPr>
            <a:r>
              <a:t>◆  Structured in clean star-schema relational hierarchy.</a:t>
            </a:r>
          </a:p>
          <a:p>
            <a:pPr>
              <a:spcAft>
                <a:spcPts val="1200"/>
              </a:spcAft>
              <a:defRPr sz="1200">
                <a:solidFill>
                  <a:srgbClr val="F1F5F9"/>
                </a:solidFill>
                <a:latin typeface="Segoe UI"/>
              </a:defRPr>
            </a:pPr>
            <a:r>
              <a:t>◆  Fact Table: Bookings contains foreign key bindings to dimensions.</a:t>
            </a:r>
          </a:p>
          <a:p>
            <a:pPr>
              <a:spcAft>
                <a:spcPts val="1200"/>
              </a:spcAft>
              <a:defRPr sz="1200">
                <a:solidFill>
                  <a:srgbClr val="F1F5F9"/>
                </a:solidFill>
                <a:latin typeface="Segoe UI"/>
              </a:defRPr>
            </a:pPr>
            <a:r>
              <a:t>◆  Dimension Tables: Customers, Buses, and Routes hold core entities.</a:t>
            </a:r>
          </a:p>
          <a:p>
            <a:pPr>
              <a:spcAft>
                <a:spcPts val="1200"/>
              </a:spcAft>
              <a:defRPr sz="1200">
                <a:solidFill>
                  <a:srgbClr val="F1F5F9"/>
                </a:solidFill>
                <a:latin typeface="Segoe UI"/>
              </a:defRPr>
            </a:pPr>
            <a:r>
              <a:t>◆  Strict foreign keys prevent orphan records and maintain database integrity.</a:t>
            </a:r>
          </a:p>
          <a:p>
            <a:pPr>
              <a:spcAft>
                <a:spcPts val="1200"/>
              </a:spcAft>
              <a:defRPr sz="1200">
                <a:solidFill>
                  <a:srgbClr val="F1F5F9"/>
                </a:solidFill>
                <a:latin typeface="Segoe UI"/>
              </a:defRPr>
            </a:pPr>
            <a:r>
              <a:t>◆  Performance indexes configured on key query corridors.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2377440"/>
            <a:ext cx="53035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500" b="1">
                <a:solidFill>
                  <a:srgbClr val="06B6D4"/>
                </a:solidFill>
                <a:latin typeface="Segoe UI"/>
              </a:defRPr>
            </a:pPr>
            <a:r>
              <a:t>📂 TABLE SCHEMAS (DDL)</a:t>
            </a:r>
          </a:p>
          <a:p>
            <a:pPr>
              <a:defRPr sz="1200" b="1">
                <a:solidFill>
                  <a:srgbClr val="F1F5F9"/>
                </a:solidFill>
              </a:defRPr>
            </a:pPr>
            <a:r>
              <a:t>• Customers (Dimension):</a:t>
            </a:r>
          </a:p>
          <a:p>
            <a:pPr>
              <a:spcAft>
                <a:spcPts val="1000"/>
              </a:spcAft>
              <a:defRPr sz="1050">
                <a:solidFill>
                  <a:srgbClr val="94A3B8"/>
                </a:solidFill>
              </a:defRPr>
            </a:pPr>
            <a:r>
              <a:t>  Customer_ID (PK) | Name | Email | Phone | Gender | Age</a:t>
            </a:r>
          </a:p>
          <a:p>
            <a:pPr>
              <a:defRPr sz="1200" b="1">
                <a:solidFill>
                  <a:srgbClr val="F1F5F9"/>
                </a:solidFill>
              </a:defRPr>
            </a:pPr>
            <a:r>
              <a:t>• Buses (Dimension):</a:t>
            </a:r>
          </a:p>
          <a:p>
            <a:pPr>
              <a:spcAft>
                <a:spcPts val="1000"/>
              </a:spcAft>
              <a:defRPr sz="1050">
                <a:solidFill>
                  <a:srgbClr val="94A3B8"/>
                </a:solidFill>
              </a:defRPr>
            </a:pPr>
            <a:r>
              <a:t>  Bus_ID (PK) | Bus_Number | Bus_Type | Capacity</a:t>
            </a:r>
          </a:p>
          <a:p>
            <a:pPr>
              <a:defRPr sz="1200" b="1">
                <a:solidFill>
                  <a:srgbClr val="F1F5F9"/>
                </a:solidFill>
              </a:defRPr>
            </a:pPr>
            <a:r>
              <a:t>• Routes (Dimension):</a:t>
            </a:r>
          </a:p>
          <a:p>
            <a:pPr>
              <a:spcAft>
                <a:spcPts val="1000"/>
              </a:spcAft>
              <a:defRPr sz="1050">
                <a:solidFill>
                  <a:srgbClr val="94A3B8"/>
                </a:solidFill>
              </a:defRPr>
            </a:pPr>
            <a:r>
              <a:t>  Route_ID (PK) | Source | Destination | Distance</a:t>
            </a:r>
          </a:p>
          <a:p>
            <a:pPr>
              <a:defRPr sz="1200" b="1">
                <a:solidFill>
                  <a:srgbClr val="F1F5F9"/>
                </a:solidFill>
              </a:defRPr>
            </a:pPr>
            <a:r>
              <a:t>• Bookings (Fact):</a:t>
            </a:r>
          </a:p>
          <a:p>
            <a:pPr>
              <a:spcAft>
                <a:spcPts val="1000"/>
              </a:spcAft>
              <a:defRPr sz="1050">
                <a:solidFill>
                  <a:srgbClr val="94A3B8"/>
                </a:solidFill>
              </a:defRPr>
            </a:pPr>
            <a:r>
              <a:t>  Booking_ID (PK) | Customer_ID (FK) | Bus_ID (FK) | Route_ID (FK) | Booking_Date | Travel_Date | Seat_Number | Fare_Amount | Booking_Status</a:t>
            </a:r>
          </a:p>
        </p:txBody>
      </p:sp>
    </p:spTree>
  </p:cSld>
  <mc:AlternateContent xmlns:mc="http://schemas.openxmlformats.org/markup-compatibility/2006">
    <mc:Choice xmlns:p14="http://schemas.microsoft.com/office/powerpoint/2010/main" Requires="p14">
      <p:transition spd="slow">
        <p:push dir="l"/>
      </p:transition>
    </mc:Choice>
    <mc:Fallback>
      <p:transition spd="slow">
        <p:push dir="l"/>
      </p:transition>
    </mc:Fallback>
  </mc:AlternateContent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371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6B6D4"/>
                </a:solidFill>
                <a:latin typeface="Segoe UI"/>
              </a:defRPr>
            </a:pPr>
            <a:r>
              <a:t>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17320"/>
            <a:ext cx="3657600" cy="365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1F5F9"/>
                </a:solidFill>
                <a:latin typeface="Segoe UI"/>
              </a:defRPr>
            </a:pPr>
            <a:r>
              <a:t>Interactive Analytical Dashboards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630936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94A3B8"/>
                </a:solidFill>
                <a:latin typeface="Segoe UI"/>
              </a:defRPr>
            </a:pPr>
            <a:r>
              <a:t>SHETYGURU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30936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7 /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37744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6B6D4"/>
                </a:solidFill>
                <a:latin typeface="Segoe UI"/>
              </a:defRPr>
            </a:pPr>
            <a:r>
              <a:t>Dynamic BI Configurations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926080"/>
            <a:ext cx="5303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>
                <a:solidFill>
                  <a:srgbClr val="F1F5F9"/>
                </a:solidFill>
                <a:latin typeface="Segoe UI"/>
              </a:defRPr>
            </a:pPr>
            <a:r>
              <a:t>◆  Synchronized Sidebar Navigation menu provides single-click page routing.</a:t>
            </a:r>
          </a:p>
          <a:p>
            <a:pPr>
              <a:spcAft>
                <a:spcPts val="1200"/>
              </a:spcAft>
              <a:defRPr sz="1200">
                <a:solidFill>
                  <a:srgbClr val="F1F5F9"/>
                </a:solidFill>
                <a:latin typeface="Segoe UI"/>
              </a:defRPr>
            </a:pPr>
            <a:r>
              <a:t>◆  Right-aligned sliding filter overlay panel controls overall timeline ranges.</a:t>
            </a:r>
          </a:p>
          <a:p>
            <a:pPr>
              <a:spcAft>
                <a:spcPts val="1200"/>
              </a:spcAft>
              <a:defRPr sz="1200">
                <a:solidFill>
                  <a:srgbClr val="F1F5F9"/>
                </a:solidFill>
                <a:latin typeface="Segoe UI"/>
              </a:defRPr>
            </a:pPr>
            <a:r>
              <a:t>◆  Interactive KPI cards feature conditional target tracking alerts.</a:t>
            </a:r>
          </a:p>
          <a:p>
            <a:pPr>
              <a:spcAft>
                <a:spcPts val="1200"/>
              </a:spcAft>
              <a:defRPr sz="1200">
                <a:solidFill>
                  <a:srgbClr val="F1F5F9"/>
                </a:solidFill>
                <a:latin typeface="Segoe UI"/>
              </a:defRPr>
            </a:pPr>
            <a:r>
              <a:t>◆  Cross-filtering visuals update dynamically upon route selection.</a:t>
            </a:r>
          </a:p>
          <a:p>
            <a:pPr>
              <a:spcAft>
                <a:spcPts val="1200"/>
              </a:spcAft>
              <a:defRPr sz="1200">
                <a:solidFill>
                  <a:srgbClr val="F1F5F9"/>
                </a:solidFill>
                <a:latin typeface="Segoe UI"/>
              </a:defRPr>
            </a:pPr>
            <a:r>
              <a:t>◆  Data drill-downs enable transition from summaries to granular rows.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2377440"/>
            <a:ext cx="53035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500" b="1">
                <a:solidFill>
                  <a:srgbClr val="06B6D4"/>
                </a:solidFill>
                <a:latin typeface="Segoe UI"/>
              </a:defRPr>
            </a:pPr>
            <a:r>
              <a:t>🖥️ MULTI-PAGE ANALYTICS WORKSPACE</a:t>
            </a:r>
          </a:p>
          <a:p>
            <a:pPr>
              <a:defRPr sz="1200" b="1">
                <a:solidFill>
                  <a:srgbClr val="F1F5F9"/>
                </a:solidFill>
              </a:defRPr>
            </a:pPr>
            <a:r>
              <a:t>• 01. Executive Overview: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  Consolidated gross stats, monthly yield trends, and route sales.</a:t>
            </a:r>
          </a:p>
          <a:p>
            <a:pPr>
              <a:defRPr sz="1200" b="1">
                <a:solidFill>
                  <a:srgbClr val="F1F5F9"/>
                </a:solidFill>
              </a:defRPr>
            </a:pPr>
            <a:r>
              <a:t>• 02. Operational Bookings: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  Reservation status ratios, cancellation metrics, and lead times.</a:t>
            </a:r>
          </a:p>
          <a:p>
            <a:pPr>
              <a:defRPr sz="1200" b="1">
                <a:solidFill>
                  <a:srgbClr val="F1F5F9"/>
                </a:solidFill>
              </a:defRPr>
            </a:pPr>
            <a:r>
              <a:t>• 03. Revenue &amp; Yield: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  Revenue leakage audits, seat-pricing comparisons, and yields.</a:t>
            </a:r>
          </a:p>
          <a:p>
            <a:pPr>
              <a:defRPr sz="1200" b="1">
                <a:solidFill>
                  <a:srgbClr val="F1F5F9"/>
                </a:solidFill>
              </a:defRPr>
            </a:pPr>
            <a:r>
              <a:t>• 04. Customers &amp; Loyalty: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  Retention gauges, cohort spend brackets, and demographics.</a:t>
            </a:r>
          </a:p>
          <a:p>
            <a:pPr>
              <a:defRPr sz="1200" b="1">
                <a:solidFill>
                  <a:srgbClr val="F1F5F9"/>
                </a:solidFill>
              </a:defRPr>
            </a:pPr>
            <a:r>
              <a:t>• 05. Fleet Utilization: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  Asset load factors, total seating capacity, and vehicle metrics.</a:t>
            </a:r>
          </a:p>
        </p:txBody>
      </p:sp>
    </p:spTree>
  </p:cSld>
  <mc:AlternateContent xmlns:mc="http://schemas.openxmlformats.org/markup-compatibility/2006">
    <mc:Choice xmlns:p14="http://schemas.microsoft.com/office/powerpoint/2010/main" Requires="p14">
      <p:transition spd="slow">
        <p:fade/>
      </p:transition>
    </mc:Choice>
    <mc:Fallback>
      <p:transition spd="slow">
        <p:fade/>
      </p:transition>
    </mc:Fallback>
  </mc:AlternateContent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371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6B6D4"/>
                </a:solidFill>
                <a:latin typeface="Segoe UI"/>
              </a:defRPr>
            </a:pPr>
            <a:r>
              <a:t>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17320"/>
            <a:ext cx="3657600" cy="365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1F5F9"/>
                </a:solidFill>
                <a:latin typeface="Segoe UI"/>
              </a:defRPr>
            </a:pPr>
            <a:r>
              <a:t>Key Financial &amp; Operational Findings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630936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94A3B8"/>
                </a:solidFill>
                <a:latin typeface="Segoe UI"/>
              </a:defRPr>
            </a:pPr>
            <a:r>
              <a:t>SHETYGURU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30936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8 /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86000"/>
            <a:ext cx="50292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500" b="1">
                <a:solidFill>
                  <a:srgbClr val="06B6D4"/>
                </a:solidFill>
                <a:latin typeface="Segoe UI"/>
              </a:defRPr>
            </a:pPr>
            <a:r>
              <a:t>📊 PIPELINE DEMAND STATS</a:t>
            </a:r>
          </a:p>
          <a:p>
            <a:pPr>
              <a:defRPr sz="1200" b="1">
                <a:solidFill>
                  <a:srgbClr val="F1F5F9"/>
                </a:solidFill>
              </a:defRPr>
            </a:pPr>
            <a:r>
              <a:t>• $8.90M / $8.38M:</a:t>
            </a:r>
          </a:p>
          <a:p>
            <a:pPr>
              <a:spcAft>
                <a:spcPts val="800"/>
              </a:spcAft>
              <a:defRPr sz="1100">
                <a:solidFill>
                  <a:srgbClr val="94A3B8"/>
                </a:solidFill>
              </a:defRPr>
            </a:pPr>
            <a:r>
              <a:t>  Gross vs. Net realized revenue (6.0% leakage).</a:t>
            </a:r>
          </a:p>
          <a:p>
            <a:pPr>
              <a:defRPr sz="1200" b="1">
                <a:solidFill>
                  <a:srgbClr val="F1F5F9"/>
                </a:solidFill>
              </a:defRPr>
            </a:pPr>
            <a:r>
              <a:t>• 75.0% Retention:</a:t>
            </a:r>
          </a:p>
          <a:p>
            <a:pPr>
              <a:spcAft>
                <a:spcPts val="800"/>
              </a:spcAft>
              <a:defRPr sz="1100">
                <a:solidFill>
                  <a:srgbClr val="94A3B8"/>
                </a:solidFill>
              </a:defRPr>
            </a:pPr>
            <a:r>
              <a:t>  Highly repeatable customer loyalty profile across city-to-city commuters.</a:t>
            </a:r>
          </a:p>
          <a:p>
            <a:pPr>
              <a:defRPr sz="1200" b="1">
                <a:solidFill>
                  <a:srgbClr val="F1F5F9"/>
                </a:solidFill>
              </a:defRPr>
            </a:pPr>
            <a:r>
              <a:t>• 51.0% Load Factor:</a:t>
            </a:r>
          </a:p>
          <a:p>
            <a:pPr>
              <a:spcAft>
                <a:spcPts val="800"/>
              </a:spcAft>
              <a:defRPr sz="1100">
                <a:solidFill>
                  <a:srgbClr val="94A3B8"/>
                </a:solidFill>
              </a:defRPr>
            </a:pPr>
            <a:r>
              <a:t>  Average fleet seating occupancy rate, indicating schedule optimization potential.</a:t>
            </a:r>
          </a:p>
          <a:p>
            <a:pPr>
              <a:defRPr sz="1200" b="1">
                <a:solidFill>
                  <a:srgbClr val="F1F5F9"/>
                </a:solidFill>
              </a:defRPr>
            </a:pPr>
            <a:r>
              <a:t>• 1-3 Days Lead:</a:t>
            </a:r>
          </a:p>
          <a:p>
            <a:pPr>
              <a:spcAft>
                <a:spcPts val="800"/>
              </a:spcAft>
              <a:defRPr sz="1100">
                <a:solidFill>
                  <a:srgbClr val="94A3B8"/>
                </a:solidFill>
              </a:defRPr>
            </a:pPr>
            <a:r>
              <a:t>  Most common booking window before departure dates.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2286000"/>
            <a:ext cx="56692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500" b="1">
                <a:solidFill>
                  <a:srgbClr val="06B6D4"/>
                </a:solidFill>
                <a:latin typeface="Segoe UI"/>
              </a:defRPr>
            </a:pPr>
            <a:r>
              <a:t>💡 STRATEGIC ROADMAP INSIGHTS</a:t>
            </a:r>
          </a:p>
          <a:p>
            <a:pPr>
              <a:defRPr sz="1250" b="1">
                <a:solidFill>
                  <a:srgbClr val="F1F5F9"/>
                </a:solidFill>
              </a:defRPr>
            </a:pPr>
            <a:r>
              <a:t>▪ Seater vs Sleeper Pricing Yields</a:t>
            </a:r>
          </a:p>
          <a:p>
            <a:pPr>
              <a:spcAft>
                <a:spcPts val="1000"/>
              </a:spcAft>
              <a:defRPr sz="1050">
                <a:solidFill>
                  <a:srgbClr val="94A3B8"/>
                </a:solidFill>
              </a:defRPr>
            </a:pPr>
            <a:r>
              <a:t>Premium AC Sleeper coaches generate the highest average fare return ($952 per seat), whereas AC Seater coaches deliver high passenger volume (2,476 bookings) with lower ticket margins.</a:t>
            </a:r>
          </a:p>
          <a:p>
            <a:pPr>
              <a:defRPr sz="1250" b="1">
                <a:solidFill>
                  <a:srgbClr val="F1F5F9"/>
                </a:solidFill>
              </a:defRPr>
            </a:pPr>
            <a:r>
              <a:t>▪ Hub Corridor Optimization</a:t>
            </a:r>
          </a:p>
          <a:p>
            <a:pPr>
              <a:spcAft>
                <a:spcPts val="1000"/>
              </a:spcAft>
              <a:defRPr sz="1050">
                <a:solidFill>
                  <a:srgbClr val="94A3B8"/>
                </a:solidFill>
              </a:defRPr>
            </a:pPr>
            <a:r>
              <a:t>Bangalore hub and Delhi hub drive the highest traffic, generating over 45% of total database ticket sales. Pricing models on these routes should leverage dynamic rate adjustments during peak commuter hours.</a:t>
            </a:r>
          </a:p>
          <a:p>
            <a:pPr>
              <a:defRPr sz="1250" b="1">
                <a:solidFill>
                  <a:srgbClr val="F1F5F9"/>
                </a:solidFill>
              </a:defRPr>
            </a:pPr>
            <a:r>
              <a:t>▪ Leakage Audit &amp; Cancellation Control</a:t>
            </a:r>
          </a:p>
          <a:p>
            <a:pPr>
              <a:spcAft>
                <a:spcPts val="1000"/>
              </a:spcAft>
              <a:defRPr sz="1050">
                <a:solidFill>
                  <a:srgbClr val="94A3B8"/>
                </a:solidFill>
              </a:defRPr>
            </a:pPr>
            <a:r>
              <a:t>Revenue leakage is isolated to cancelled bookings ($519.84K). Operations teams can introduce booking deposits or non-refundable fare structures for high-demand weekend runs to protect yield.</a:t>
            </a:r>
          </a:p>
        </p:txBody>
      </p:sp>
    </p:spTree>
  </p:cSld>
  <mc:AlternateContent xmlns:mc="http://schemas.openxmlformats.org/markup-compatibility/2006">
    <mc:Choice xmlns:p14="http://schemas.microsoft.com/office/powerpoint/2010/main" Requires="p14">
      <p:transition spd="slow">
        <p:wipe dir="l"/>
      </p:transition>
    </mc:Choice>
    <mc:Fallback>
      <p:transition spd="slow">
        <p:wipe dir="l"/>
      </p:transition>
    </mc:Fallback>
  </mc:AlternateContent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371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6B6D4"/>
                </a:solidFill>
                <a:latin typeface="Segoe UI"/>
              </a:defRPr>
            </a:pPr>
            <a:r>
              <a:t>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17320"/>
            <a:ext cx="3657600" cy="365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1F5F9"/>
                </a:solidFill>
                <a:latin typeface="Segoe UI"/>
              </a:defRPr>
            </a:pPr>
            <a:r>
              <a:t>Strategic Recommendations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630936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94A3B8"/>
                </a:solidFill>
                <a:latin typeface="Segoe UI"/>
              </a:defRPr>
            </a:pPr>
            <a:r>
              <a:t>SHETYGURU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30936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9 /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377440"/>
            <a:ext cx="5303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6B6D4"/>
                </a:solidFill>
                <a:latin typeface="Segoe UI"/>
              </a:defRPr>
            </a:pPr>
            <a:r>
              <a:t>▪ 🎫 Pricing Managers</a:t>
            </a:r>
          </a:p>
          <a:p>
            <a:pPr>
              <a:defRPr sz="1150">
                <a:solidFill>
                  <a:srgbClr val="F1F5F9"/>
                </a:solidFill>
                <a:latin typeface="Segoe UI"/>
              </a:defRPr>
            </a:pPr>
            <a:r>
              <a:t>Leverage dynamic pricing during May-June peaks. Elevate AC Sleeper rates by 10% on high-demand weekends to capture maximum yield.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2377440"/>
            <a:ext cx="5303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6B6D4"/>
                </a:solidFill>
                <a:latin typeface="Segoe UI"/>
              </a:defRPr>
            </a:pPr>
            <a:r>
              <a:t>▪ 🚌 Dispatch Coordinators</a:t>
            </a:r>
          </a:p>
          <a:p>
            <a:pPr>
              <a:defRPr sz="1150">
                <a:solidFill>
                  <a:srgbClr val="F1F5F9"/>
                </a:solidFill>
                <a:latin typeface="Segoe UI"/>
              </a:defRPr>
            </a:pPr>
            <a:r>
              <a:t>Improve the 51% fleet load factor. Consolidate low-occupancy weekday runs and reassign AC Seater buses to peak Bangalore/Delhi schedules.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297680"/>
            <a:ext cx="5303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6B6D4"/>
                </a:solidFill>
                <a:latin typeface="Segoe UI"/>
              </a:defRPr>
            </a:pPr>
            <a:r>
              <a:t>▪ 📢 Marketing Specialists</a:t>
            </a:r>
          </a:p>
          <a:p>
            <a:pPr>
              <a:defRPr sz="1150">
                <a:solidFill>
                  <a:srgbClr val="F1F5F9"/>
                </a:solidFill>
                <a:latin typeface="Segoe UI"/>
              </a:defRPr>
            </a:pPr>
            <a:r>
              <a:t>Launch targeted loyalty campaigns to boost retention past the 80% mark, focusing on the highly-profitable 25-45 age group bracket.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4297680"/>
            <a:ext cx="5303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6B6D4"/>
                </a:solidFill>
                <a:latin typeface="Segoe UI"/>
              </a:defRPr>
            </a:pPr>
            <a:r>
              <a:t>▪ ⚙️ System Architects</a:t>
            </a:r>
          </a:p>
          <a:p>
            <a:pPr>
              <a:defRPr sz="1150">
                <a:solidFill>
                  <a:srgbClr val="F1F5F9"/>
                </a:solidFill>
                <a:latin typeface="Segoe UI"/>
              </a:defRPr>
            </a:pPr>
            <a:r>
              <a:t>Preserve the MySQL relational schema for secure append runs. Protect local server config details inside separated configuration keys.</a:t>
            </a:r>
          </a:p>
        </p:txBody>
      </p:sp>
    </p:spTree>
  </p:cSld>
  <mc:AlternateContent xmlns:mc="http://schemas.openxmlformats.org/markup-compatibility/2006">
    <mc:Choice xmlns:p14="http://schemas.microsoft.com/office/powerpoint/2010/main" Requires="p14">
      <p:transition spd="slow">
        <p:fade/>
      </p:transition>
    </mc:Choice>
    <mc:Fallback>
      <p:transition spd="slow">
        <p:fade/>
      </p:transition>
    </mc:Fallback>
  </mc:AlternateContent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601200" y="630936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94A3B8"/>
                </a:solidFill>
                <a:latin typeface="Segoe UI"/>
              </a:defRPr>
            </a:pPr>
            <a:r>
              <a:t>SHETYGURU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2468880"/>
            <a:ext cx="8503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06B6D4"/>
                </a:solidFill>
                <a:latin typeface="Segoe UI"/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840480"/>
            <a:ext cx="8503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1F5F9"/>
                </a:solidFill>
                <a:latin typeface="Segoe UI"/>
              </a:defRPr>
            </a:pPr>
            <a:r>
              <a:t>Bus Booking Analytics System  |  Phase 2 Final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4480560"/>
            <a:ext cx="8503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94A3B8"/>
                </a:solidFill>
                <a:latin typeface="Segoe UI"/>
              </a:defRPr>
            </a:pPr>
            <a:r>
              <a:t>Gururaj Shetty  |  Revature Data Analytics</a:t>
            </a:r>
            <a:br/>
            <a:r>
              <a:t>Email: shettygururaj279@gmail.com  |  GitHub: SHETYGURU</a:t>
            </a:r>
          </a:p>
        </p:txBody>
      </p:sp>
    </p:spTree>
  </p:cSld>
  <mc:AlternateContent xmlns:mc="http://schemas.openxmlformats.org/markup-compatibility/2006">
    <mc:Choice xmlns:p14="http://schemas.microsoft.com/office/powerpoint/2010/main" Requires="p14">
      <p:transition spd="slow">
        <p:push dir="l"/>
      </p:transition>
    </mc:Choice>
    <mc:Fallback>
      <p:transition spd="slow">
        <p:push dir="l"/>
      </p:transition>
    </mc:Fallback>
  </mc:AlternateContent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